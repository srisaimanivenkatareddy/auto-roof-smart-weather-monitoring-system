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Arimo" panose="020B0604020202020204" charset="0"/>
      <p:regular r:id="rId13"/>
    </p:embeddedFont>
    <p:embeddedFont>
      <p:font typeface="Canva Student Font" panose="020B0604020202020204" charset="0"/>
      <p:regular r:id="rId14"/>
    </p:embeddedFont>
    <p:embeddedFont>
      <p:font typeface="Noto Sans" panose="020B0502040504020204" pitchFamily="34" charset="0"/>
      <p:regular r:id="rId15"/>
    </p:embeddedFont>
    <p:embeddedFont>
      <p:font typeface="Noto Sans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88D2DD-A2DF-4EB9-9549-85E1B45A32CD}" v="337" dt="2025-11-02T17:19:04.0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48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 Sai Mani Venkata Reddy Nallamilli" userId="5f24e0978fbf7b0c" providerId="LiveId" clId="{7D8F3095-E4BD-4A9A-A674-CEBE33FA4770}"/>
    <pc:docChg chg="modSld">
      <pc:chgData name="Sri Sai Mani Venkata Reddy Nallamilli" userId="5f24e0978fbf7b0c" providerId="LiveId" clId="{7D8F3095-E4BD-4A9A-A674-CEBE33FA4770}" dt="2025-11-02T17:19:04.017" v="336"/>
      <pc:docMkLst>
        <pc:docMk/>
      </pc:docMkLst>
      <pc:sldChg chg="modTransition">
        <pc:chgData name="Sri Sai Mani Venkata Reddy Nallamilli" userId="5f24e0978fbf7b0c" providerId="LiveId" clId="{7D8F3095-E4BD-4A9A-A674-CEBE33FA4770}" dt="2025-11-02T17:16:58.400" v="36"/>
        <pc:sldMkLst>
          <pc:docMk/>
          <pc:sldMk cId="0" sldId="256"/>
        </pc:sldMkLst>
      </pc:sldChg>
      <pc:sldChg chg="modTransition">
        <pc:chgData name="Sri Sai Mani Venkata Reddy Nallamilli" userId="5f24e0978fbf7b0c" providerId="LiveId" clId="{7D8F3095-E4BD-4A9A-A674-CEBE33FA4770}" dt="2025-11-02T17:17:06.039" v="66"/>
        <pc:sldMkLst>
          <pc:docMk/>
          <pc:sldMk cId="0" sldId="257"/>
        </pc:sldMkLst>
      </pc:sldChg>
      <pc:sldChg chg="modTransition">
        <pc:chgData name="Sri Sai Mani Venkata Reddy Nallamilli" userId="5f24e0978fbf7b0c" providerId="LiveId" clId="{7D8F3095-E4BD-4A9A-A674-CEBE33FA4770}" dt="2025-11-02T17:17:17.983" v="96"/>
        <pc:sldMkLst>
          <pc:docMk/>
          <pc:sldMk cId="0" sldId="258"/>
        </pc:sldMkLst>
      </pc:sldChg>
      <pc:sldChg chg="modTransition">
        <pc:chgData name="Sri Sai Mani Venkata Reddy Nallamilli" userId="5f24e0978fbf7b0c" providerId="LiveId" clId="{7D8F3095-E4BD-4A9A-A674-CEBE33FA4770}" dt="2025-11-02T17:17:58.985" v="126"/>
        <pc:sldMkLst>
          <pc:docMk/>
          <pc:sldMk cId="0" sldId="259"/>
        </pc:sldMkLst>
      </pc:sldChg>
      <pc:sldChg chg="modTransition">
        <pc:chgData name="Sri Sai Mani Venkata Reddy Nallamilli" userId="5f24e0978fbf7b0c" providerId="LiveId" clId="{7D8F3095-E4BD-4A9A-A674-CEBE33FA4770}" dt="2025-11-02T17:18:10.188" v="156"/>
        <pc:sldMkLst>
          <pc:docMk/>
          <pc:sldMk cId="0" sldId="260"/>
        </pc:sldMkLst>
      </pc:sldChg>
      <pc:sldChg chg="modTransition">
        <pc:chgData name="Sri Sai Mani Venkata Reddy Nallamilli" userId="5f24e0978fbf7b0c" providerId="LiveId" clId="{7D8F3095-E4BD-4A9A-A674-CEBE33FA4770}" dt="2025-11-02T17:18:19.646" v="186"/>
        <pc:sldMkLst>
          <pc:docMk/>
          <pc:sldMk cId="0" sldId="261"/>
        </pc:sldMkLst>
      </pc:sldChg>
      <pc:sldChg chg="modTransition">
        <pc:chgData name="Sri Sai Mani Venkata Reddy Nallamilli" userId="5f24e0978fbf7b0c" providerId="LiveId" clId="{7D8F3095-E4BD-4A9A-A674-CEBE33FA4770}" dt="2025-11-02T17:18:28.917" v="216"/>
        <pc:sldMkLst>
          <pc:docMk/>
          <pc:sldMk cId="0" sldId="262"/>
        </pc:sldMkLst>
      </pc:sldChg>
      <pc:sldChg chg="modTransition">
        <pc:chgData name="Sri Sai Mani Venkata Reddy Nallamilli" userId="5f24e0978fbf7b0c" providerId="LiveId" clId="{7D8F3095-E4BD-4A9A-A674-CEBE33FA4770}" dt="2025-11-02T17:18:37.383" v="246"/>
        <pc:sldMkLst>
          <pc:docMk/>
          <pc:sldMk cId="0" sldId="263"/>
        </pc:sldMkLst>
      </pc:sldChg>
      <pc:sldChg chg="modTransition">
        <pc:chgData name="Sri Sai Mani Venkata Reddy Nallamilli" userId="5f24e0978fbf7b0c" providerId="LiveId" clId="{7D8F3095-E4BD-4A9A-A674-CEBE33FA4770}" dt="2025-11-02T17:18:45.364" v="276"/>
        <pc:sldMkLst>
          <pc:docMk/>
          <pc:sldMk cId="0" sldId="264"/>
        </pc:sldMkLst>
      </pc:sldChg>
      <pc:sldChg chg="modTransition">
        <pc:chgData name="Sri Sai Mani Venkata Reddy Nallamilli" userId="5f24e0978fbf7b0c" providerId="LiveId" clId="{7D8F3095-E4BD-4A9A-A674-CEBE33FA4770}" dt="2025-11-02T17:18:54.859" v="306"/>
        <pc:sldMkLst>
          <pc:docMk/>
          <pc:sldMk cId="0" sldId="265"/>
        </pc:sldMkLst>
      </pc:sldChg>
      <pc:sldChg chg="modTransition">
        <pc:chgData name="Sri Sai Mani Venkata Reddy Nallamilli" userId="5f24e0978fbf7b0c" providerId="LiveId" clId="{7D8F3095-E4BD-4A9A-A674-CEBE33FA4770}" dt="2025-11-02T17:19:04.017" v="336"/>
        <pc:sldMkLst>
          <pc:docMk/>
          <pc:sldMk cId="0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070C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66769" y="380421"/>
            <a:ext cx="9445526" cy="6384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562"/>
              </a:lnSpc>
            </a:pPr>
            <a:r>
              <a:rPr lang="en-US" sz="10049">
                <a:solidFill>
                  <a:srgbClr val="97B8FF"/>
                </a:solidFill>
                <a:latin typeface="Arimo"/>
                <a:ea typeface="Arimo"/>
                <a:cs typeface="Arimo"/>
                <a:sym typeface="Arimo"/>
              </a:rPr>
              <a:t>IoT-Based Weather Monitoring System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66769" y="6726929"/>
            <a:ext cx="6599932" cy="658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5"/>
              </a:lnSpc>
            </a:pPr>
            <a:r>
              <a:rPr lang="en-US" sz="3875">
                <a:solidFill>
                  <a:srgbClr val="97B8FF"/>
                </a:solidFill>
                <a:latin typeface="Arimo"/>
                <a:ea typeface="Arimo"/>
                <a:cs typeface="Arimo"/>
                <a:sym typeface="Arimo"/>
              </a:rPr>
              <a:t>Using NodeMCU ESP8266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7509805"/>
            <a:ext cx="5825178" cy="476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2"/>
              </a:lnSpc>
            </a:pPr>
            <a:r>
              <a:rPr lang="en-US" sz="253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An Embedded Systems Mini Project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994590" y="7487179"/>
            <a:ext cx="2435410" cy="2199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1"/>
              </a:lnSpc>
            </a:pPr>
            <a:r>
              <a:rPr lang="en-US" sz="2730">
                <a:solidFill>
                  <a:srgbClr val="D1DCF5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Team MEMBERS:</a:t>
            </a:r>
          </a:p>
          <a:p>
            <a:pPr algn="l">
              <a:lnSpc>
                <a:spcPts val="4401"/>
              </a:lnSpc>
            </a:pPr>
            <a:r>
              <a:rPr lang="en-US" sz="2730">
                <a:solidFill>
                  <a:srgbClr val="D1DCF5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S20240020285</a:t>
            </a:r>
          </a:p>
          <a:p>
            <a:pPr algn="l">
              <a:lnSpc>
                <a:spcPts val="4401"/>
              </a:lnSpc>
            </a:pPr>
            <a:r>
              <a:rPr lang="en-US" sz="2730">
                <a:solidFill>
                  <a:srgbClr val="D1DCF5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S20240020314</a:t>
            </a:r>
          </a:p>
          <a:p>
            <a:pPr algn="l">
              <a:lnSpc>
                <a:spcPts val="4404"/>
              </a:lnSpc>
            </a:pPr>
            <a:r>
              <a:rPr lang="en-US" sz="2730">
                <a:solidFill>
                  <a:srgbClr val="D1DCF5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S20240020315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0">
        <p:split orient="vert"/>
      </p:transition>
    </mc:Choice>
    <mc:Fallback>
      <p:transition spd="slow" advTm="10000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070C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18288000" cy="3101131"/>
            <a:chOff x="0" y="0"/>
            <a:chExt cx="24384000" cy="4134842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24384000" cy="4134866"/>
            </a:xfrm>
            <a:custGeom>
              <a:avLst/>
              <a:gdLst/>
              <a:ahLst/>
              <a:cxnLst/>
              <a:rect l="l" t="t" r="r" b="b"/>
              <a:pathLst>
                <a:path w="24384000" h="4134866">
                  <a:moveTo>
                    <a:pt x="0" y="0"/>
                  </a:moveTo>
                  <a:lnTo>
                    <a:pt x="24384000" y="0"/>
                  </a:lnTo>
                  <a:lnTo>
                    <a:pt x="24384000" y="4134866"/>
                  </a:lnTo>
                  <a:lnTo>
                    <a:pt x="0" y="41348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64" b="-6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92237" y="4444833"/>
            <a:ext cx="8151762" cy="1095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49"/>
              </a:lnSpc>
            </a:pPr>
            <a:r>
              <a:rPr lang="en-US" sz="6874">
                <a:solidFill>
                  <a:srgbClr val="97B8FF"/>
                </a:solidFill>
                <a:latin typeface="Arimo"/>
                <a:ea typeface="Arimo"/>
                <a:cs typeface="Arimo"/>
                <a:sym typeface="Arimo"/>
              </a:rPr>
              <a:t>Project Objective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7" y="5797451"/>
            <a:ext cx="16457971" cy="3223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85"/>
              </a:lnSpc>
            </a:pPr>
            <a:r>
              <a:rPr lang="en-US" sz="2656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This project aims to design and develop a comprehensive IoT-based weather monitoring system that captures critical environmental data including temperature, humidity, rainfall, and light intensity. The system transmits this data in real-time to the Blynk cloud platform, enabling users to monitor weather conditions remotely from anywhere using a smartphone application. By combining embedded systems with cloud connectivity, this project demonstrates practical IoT implementation for real-world environmental sensing applications.</a:t>
            </a:r>
          </a:p>
        </p:txBody>
      </p:sp>
    </p:spTree>
  </p:cSld>
  <p:clrMapOvr>
    <a:masterClrMapping/>
  </p:clrMapOvr>
  <p:transition spd="slow" advTm="30000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070C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7" y="981075"/>
            <a:ext cx="12414422" cy="984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6174">
                <a:solidFill>
                  <a:srgbClr val="97B8FF"/>
                </a:solidFill>
                <a:latin typeface="Arimo"/>
                <a:ea typeface="Arimo"/>
                <a:cs typeface="Arimo"/>
                <a:sym typeface="Arimo"/>
              </a:rPr>
              <a:t>Why Weather Monitoring Matters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92237" y="2740709"/>
            <a:ext cx="5269111" cy="3216583"/>
            <a:chOff x="0" y="0"/>
            <a:chExt cx="7025482" cy="428877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025513" cy="4288825"/>
            </a:xfrm>
            <a:custGeom>
              <a:avLst/>
              <a:gdLst/>
              <a:ahLst/>
              <a:cxnLst/>
              <a:rect l="l" t="t" r="r" b="b"/>
              <a:pathLst>
                <a:path w="7025513" h="4288825">
                  <a:moveTo>
                    <a:pt x="0" y="71845"/>
                  </a:moveTo>
                  <a:cubicBezTo>
                    <a:pt x="0" y="32156"/>
                    <a:pt x="22225" y="0"/>
                    <a:pt x="49657" y="0"/>
                  </a:cubicBezTo>
                  <a:lnTo>
                    <a:pt x="6975856" y="0"/>
                  </a:lnTo>
                  <a:cubicBezTo>
                    <a:pt x="7003288" y="0"/>
                    <a:pt x="7025513" y="32156"/>
                    <a:pt x="7025513" y="71845"/>
                  </a:cubicBezTo>
                  <a:lnTo>
                    <a:pt x="7025513" y="4217000"/>
                  </a:lnTo>
                  <a:cubicBezTo>
                    <a:pt x="7025513" y="4256690"/>
                    <a:pt x="7003288" y="4288825"/>
                    <a:pt x="6975856" y="4288825"/>
                  </a:cubicBezTo>
                  <a:lnTo>
                    <a:pt x="49657" y="4288825"/>
                  </a:lnTo>
                  <a:cubicBezTo>
                    <a:pt x="22225" y="4288825"/>
                    <a:pt x="0" y="4256690"/>
                    <a:pt x="0" y="4217000"/>
                  </a:cubicBezTo>
                  <a:close/>
                </a:path>
              </a:pathLst>
            </a:custGeom>
            <a:solidFill>
              <a:srgbClr val="26262B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240185" y="3019895"/>
            <a:ext cx="4276642" cy="48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8"/>
              </a:lnSpc>
            </a:pPr>
            <a:r>
              <a:rPr lang="en-US" sz="3037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Agriculture &amp; Farming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40185" y="3753806"/>
            <a:ext cx="4773216" cy="1443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1"/>
              </a:lnSpc>
            </a:pPr>
            <a:r>
              <a:rPr lang="en-US" sz="243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Optimize irrigation schedules and crop management based on real-time environmental data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509296" y="2740709"/>
            <a:ext cx="5269260" cy="3216583"/>
            <a:chOff x="0" y="0"/>
            <a:chExt cx="7025680" cy="428877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025767" cy="4288825"/>
            </a:xfrm>
            <a:custGeom>
              <a:avLst/>
              <a:gdLst/>
              <a:ahLst/>
              <a:cxnLst/>
              <a:rect l="l" t="t" r="r" b="b"/>
              <a:pathLst>
                <a:path w="7025767" h="4288825">
                  <a:moveTo>
                    <a:pt x="0" y="71845"/>
                  </a:moveTo>
                  <a:cubicBezTo>
                    <a:pt x="0" y="32156"/>
                    <a:pt x="22225" y="0"/>
                    <a:pt x="49657" y="0"/>
                  </a:cubicBezTo>
                  <a:lnTo>
                    <a:pt x="6976110" y="0"/>
                  </a:lnTo>
                  <a:cubicBezTo>
                    <a:pt x="7003542" y="0"/>
                    <a:pt x="7025767" y="32156"/>
                    <a:pt x="7025767" y="71845"/>
                  </a:cubicBezTo>
                  <a:lnTo>
                    <a:pt x="7025767" y="4217000"/>
                  </a:lnTo>
                  <a:cubicBezTo>
                    <a:pt x="7025767" y="4256690"/>
                    <a:pt x="7003542" y="4288825"/>
                    <a:pt x="6976110" y="4288825"/>
                  </a:cubicBezTo>
                  <a:lnTo>
                    <a:pt x="49657" y="4288825"/>
                  </a:lnTo>
                  <a:cubicBezTo>
                    <a:pt x="22225" y="4288825"/>
                    <a:pt x="0" y="4256690"/>
                    <a:pt x="0" y="4217000"/>
                  </a:cubicBezTo>
                  <a:close/>
                </a:path>
              </a:pathLst>
            </a:custGeom>
            <a:solidFill>
              <a:srgbClr val="26262B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757244" y="2996669"/>
            <a:ext cx="3763390" cy="529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7"/>
              </a:lnSpc>
            </a:pPr>
            <a:r>
              <a:rPr lang="en-US" sz="3337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Smart Cities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757244" y="3744281"/>
            <a:ext cx="4773365" cy="1939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1"/>
              </a:lnSpc>
            </a:pPr>
            <a:r>
              <a:rPr lang="en-US" sz="243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Monitor urban climate conditions for traffic management, pollution control, and public safety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2026504" y="2740709"/>
            <a:ext cx="5269111" cy="3216583"/>
            <a:chOff x="0" y="0"/>
            <a:chExt cx="7025482" cy="428877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025513" cy="4288825"/>
            </a:xfrm>
            <a:custGeom>
              <a:avLst/>
              <a:gdLst/>
              <a:ahLst/>
              <a:cxnLst/>
              <a:rect l="l" t="t" r="r" b="b"/>
              <a:pathLst>
                <a:path w="7025513" h="4288825">
                  <a:moveTo>
                    <a:pt x="0" y="71845"/>
                  </a:moveTo>
                  <a:cubicBezTo>
                    <a:pt x="0" y="32156"/>
                    <a:pt x="22225" y="0"/>
                    <a:pt x="49657" y="0"/>
                  </a:cubicBezTo>
                  <a:lnTo>
                    <a:pt x="6975856" y="0"/>
                  </a:lnTo>
                  <a:cubicBezTo>
                    <a:pt x="7003288" y="0"/>
                    <a:pt x="7025513" y="32156"/>
                    <a:pt x="7025513" y="71845"/>
                  </a:cubicBezTo>
                  <a:lnTo>
                    <a:pt x="7025513" y="4217000"/>
                  </a:lnTo>
                  <a:cubicBezTo>
                    <a:pt x="7025513" y="4256690"/>
                    <a:pt x="7003288" y="4288825"/>
                    <a:pt x="6975856" y="4288825"/>
                  </a:cubicBezTo>
                  <a:lnTo>
                    <a:pt x="49657" y="4288825"/>
                  </a:lnTo>
                  <a:cubicBezTo>
                    <a:pt x="22225" y="4288825"/>
                    <a:pt x="0" y="4256690"/>
                    <a:pt x="0" y="4217000"/>
                  </a:cubicBezTo>
                  <a:close/>
                </a:path>
              </a:pathLst>
            </a:custGeom>
            <a:solidFill>
              <a:srgbClr val="26262B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2274451" y="3001236"/>
            <a:ext cx="4773216" cy="502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1"/>
              </a:lnSpc>
            </a:pPr>
            <a:r>
              <a:rPr lang="en-US" sz="3137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Environmental Protection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274451" y="3734756"/>
            <a:ext cx="4773216" cy="1443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1"/>
              </a:lnSpc>
            </a:pPr>
            <a:r>
              <a:rPr lang="en-US" sz="243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Track ecological conditions and detect anomalies for conservation efforts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92237" y="6357342"/>
            <a:ext cx="16267062" cy="2534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5"/>
              </a:lnSpc>
            </a:pPr>
            <a:r>
              <a:rPr lang="en-US" sz="2533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Weather monitoring is essential across multiple domains. This system leverages NodeMCU ESP8266's Wi-Fi capabilities to collect sensor data continuously and transmit it to the Blynk cloud platform, enabling anywhere, anytime access through a mobile application. The integration of multiple sensors provides comprehensive environmental insights that support decision-making in agriculture, urban planning, and environmental science.</a:t>
            </a:r>
          </a:p>
        </p:txBody>
      </p:sp>
    </p:spTree>
  </p:cSld>
  <p:clrMapOvr>
    <a:masterClrMapping/>
  </p:clrMapOvr>
  <p:transition spd="slow" advTm="30000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070C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39254" y="607665"/>
            <a:ext cx="6163304" cy="577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3599">
                <a:solidFill>
                  <a:srgbClr val="97B8FF"/>
                </a:solidFill>
                <a:latin typeface="Arimo"/>
                <a:ea typeface="Arimo"/>
                <a:cs typeface="Arimo"/>
                <a:sym typeface="Arimo"/>
              </a:rPr>
              <a:t>Hardware Components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39254" y="1656904"/>
            <a:ext cx="5368081" cy="3926384"/>
            <a:chOff x="0" y="0"/>
            <a:chExt cx="7157442" cy="523517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157465" cy="5235194"/>
            </a:xfrm>
            <a:custGeom>
              <a:avLst/>
              <a:gdLst/>
              <a:ahLst/>
              <a:cxnLst/>
              <a:rect l="l" t="t" r="r" b="b"/>
              <a:pathLst>
                <a:path w="7157465" h="5235194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7035546" y="0"/>
                  </a:lnTo>
                  <a:cubicBezTo>
                    <a:pt x="7102856" y="0"/>
                    <a:pt x="7157465" y="54610"/>
                    <a:pt x="7157465" y="121920"/>
                  </a:cubicBezTo>
                  <a:lnTo>
                    <a:pt x="7157465" y="5113274"/>
                  </a:lnTo>
                  <a:cubicBezTo>
                    <a:pt x="7157465" y="5180584"/>
                    <a:pt x="7102856" y="5235194"/>
                    <a:pt x="7035546" y="5235194"/>
                  </a:cubicBezTo>
                  <a:lnTo>
                    <a:pt x="121920" y="5235194"/>
                  </a:lnTo>
                  <a:cubicBezTo>
                    <a:pt x="54610" y="5235194"/>
                    <a:pt x="0" y="5180584"/>
                    <a:pt x="0" y="5113274"/>
                  </a:cubicBezTo>
                  <a:close/>
                </a:path>
              </a:pathLst>
            </a:custGeom>
            <a:solidFill>
              <a:srgbClr val="07070C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39254" y="1637854"/>
            <a:ext cx="5368081" cy="76200"/>
            <a:chOff x="0" y="0"/>
            <a:chExt cx="7157442" cy="101600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7157466" cy="101600"/>
            </a:xfrm>
            <a:custGeom>
              <a:avLst/>
              <a:gdLst/>
              <a:ahLst/>
              <a:cxnLst/>
              <a:rect l="l" t="t" r="r" b="b"/>
              <a:pathLst>
                <a:path w="7157466" h="101600">
                  <a:moveTo>
                    <a:pt x="0" y="0"/>
                  </a:moveTo>
                  <a:lnTo>
                    <a:pt x="7157466" y="0"/>
                  </a:lnTo>
                  <a:lnTo>
                    <a:pt x="7157466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7" r="-3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394322" y="1428006"/>
            <a:ext cx="457795" cy="457795"/>
            <a:chOff x="0" y="0"/>
            <a:chExt cx="610393" cy="610393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610362" cy="610362"/>
            </a:xfrm>
            <a:custGeom>
              <a:avLst/>
              <a:gdLst/>
              <a:ahLst/>
              <a:cxnLst/>
              <a:rect l="l" t="t" r="r" b="b"/>
              <a:pathLst>
                <a:path w="610362" h="610362">
                  <a:moveTo>
                    <a:pt x="0" y="0"/>
                  </a:moveTo>
                  <a:lnTo>
                    <a:pt x="610362" y="0"/>
                  </a:lnTo>
                  <a:lnTo>
                    <a:pt x="610362" y="610362"/>
                  </a:lnTo>
                  <a:lnTo>
                    <a:pt x="0" y="6103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5" b="-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531691" y="1485305"/>
            <a:ext cx="183059" cy="28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143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42571" y="1887051"/>
            <a:ext cx="3342247" cy="351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6"/>
              </a:lnSpc>
            </a:pPr>
            <a:r>
              <a:rPr lang="en-US" sz="2196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NodeMCU ESP8266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02308" y="2259708"/>
            <a:ext cx="5024884" cy="1194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6"/>
              </a:lnSpc>
            </a:pPr>
            <a:r>
              <a:rPr lang="en-US" sz="20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Wi-Fi enabled microcontroller with built-in IoT capabilities for data collection and transmission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2213227" y="3620096"/>
            <a:ext cx="2894108" cy="1868091"/>
            <a:chOff x="0" y="0"/>
            <a:chExt cx="4306002" cy="2779441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4305994" cy="2779406"/>
            </a:xfrm>
            <a:custGeom>
              <a:avLst/>
              <a:gdLst/>
              <a:ahLst/>
              <a:cxnLst/>
              <a:rect l="l" t="t" r="r" b="b"/>
              <a:pathLst>
                <a:path w="4305994" h="2779406">
                  <a:moveTo>
                    <a:pt x="0" y="0"/>
                  </a:moveTo>
                  <a:lnTo>
                    <a:pt x="4305994" y="0"/>
                  </a:lnTo>
                  <a:lnTo>
                    <a:pt x="4305994" y="2779406"/>
                  </a:lnTo>
                  <a:lnTo>
                    <a:pt x="0" y="27794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6458" b="-646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459885" y="1656904"/>
            <a:ext cx="5368081" cy="3926384"/>
            <a:chOff x="0" y="0"/>
            <a:chExt cx="7157442" cy="523517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157465" cy="5235194"/>
            </a:xfrm>
            <a:custGeom>
              <a:avLst/>
              <a:gdLst/>
              <a:ahLst/>
              <a:cxnLst/>
              <a:rect l="l" t="t" r="r" b="b"/>
              <a:pathLst>
                <a:path w="7157465" h="5235194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7035546" y="0"/>
                  </a:lnTo>
                  <a:cubicBezTo>
                    <a:pt x="7102856" y="0"/>
                    <a:pt x="7157465" y="54610"/>
                    <a:pt x="7157465" y="121920"/>
                  </a:cubicBezTo>
                  <a:lnTo>
                    <a:pt x="7157465" y="5113274"/>
                  </a:lnTo>
                  <a:cubicBezTo>
                    <a:pt x="7157465" y="5180584"/>
                    <a:pt x="7102856" y="5235194"/>
                    <a:pt x="7035546" y="5235194"/>
                  </a:cubicBezTo>
                  <a:lnTo>
                    <a:pt x="121920" y="5235194"/>
                  </a:lnTo>
                  <a:cubicBezTo>
                    <a:pt x="54610" y="5235194"/>
                    <a:pt x="0" y="5180584"/>
                    <a:pt x="0" y="5113274"/>
                  </a:cubicBezTo>
                  <a:close/>
                </a:path>
              </a:pathLst>
            </a:custGeom>
            <a:solidFill>
              <a:srgbClr val="07070C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59885" y="1637854"/>
            <a:ext cx="5368081" cy="76200"/>
            <a:chOff x="0" y="0"/>
            <a:chExt cx="7157442" cy="101600"/>
          </a:xfrm>
        </p:grpSpPr>
        <p:sp>
          <p:nvSpPr>
            <p:cNvPr id="21" name="Freeform 21" descr="preencoded.png"/>
            <p:cNvSpPr/>
            <p:nvPr/>
          </p:nvSpPr>
          <p:spPr>
            <a:xfrm>
              <a:off x="0" y="0"/>
              <a:ext cx="7157466" cy="101600"/>
            </a:xfrm>
            <a:custGeom>
              <a:avLst/>
              <a:gdLst/>
              <a:ahLst/>
              <a:cxnLst/>
              <a:rect l="l" t="t" r="r" b="b"/>
              <a:pathLst>
                <a:path w="7157466" h="101600">
                  <a:moveTo>
                    <a:pt x="0" y="0"/>
                  </a:moveTo>
                  <a:lnTo>
                    <a:pt x="7157466" y="0"/>
                  </a:lnTo>
                  <a:lnTo>
                    <a:pt x="7157466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7" r="-3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914954" y="1428006"/>
            <a:ext cx="457795" cy="457795"/>
            <a:chOff x="0" y="0"/>
            <a:chExt cx="610393" cy="610393"/>
          </a:xfrm>
        </p:grpSpPr>
        <p:sp>
          <p:nvSpPr>
            <p:cNvPr id="23" name="Freeform 23" descr="preencoded.png"/>
            <p:cNvSpPr/>
            <p:nvPr/>
          </p:nvSpPr>
          <p:spPr>
            <a:xfrm>
              <a:off x="0" y="0"/>
              <a:ext cx="610362" cy="610362"/>
            </a:xfrm>
            <a:custGeom>
              <a:avLst/>
              <a:gdLst/>
              <a:ahLst/>
              <a:cxnLst/>
              <a:rect l="l" t="t" r="r" b="b"/>
              <a:pathLst>
                <a:path w="610362" h="610362">
                  <a:moveTo>
                    <a:pt x="0" y="0"/>
                  </a:moveTo>
                  <a:lnTo>
                    <a:pt x="610362" y="0"/>
                  </a:lnTo>
                  <a:lnTo>
                    <a:pt x="610362" y="610362"/>
                  </a:lnTo>
                  <a:lnTo>
                    <a:pt x="0" y="6103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5" b="-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9052321" y="1485305"/>
            <a:ext cx="183059" cy="28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143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863474" y="1836251"/>
            <a:ext cx="2724762" cy="37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299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DHT11 Sensor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31484" y="2311301"/>
            <a:ext cx="5024884" cy="675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2"/>
              </a:lnSpc>
            </a:pPr>
            <a:r>
              <a:rPr lang="en-US" sz="17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Digital temperature and humidity sensor providing accurate environmental readings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7510909" y="3644501"/>
            <a:ext cx="3266034" cy="1938787"/>
            <a:chOff x="0" y="0"/>
            <a:chExt cx="4354712" cy="2585049"/>
          </a:xfrm>
        </p:grpSpPr>
        <p:sp>
          <p:nvSpPr>
            <p:cNvPr id="28" name="Freeform 28" descr="preencoded.png"/>
            <p:cNvSpPr/>
            <p:nvPr/>
          </p:nvSpPr>
          <p:spPr>
            <a:xfrm>
              <a:off x="0" y="0"/>
              <a:ext cx="4354703" cy="2585016"/>
            </a:xfrm>
            <a:custGeom>
              <a:avLst/>
              <a:gdLst/>
              <a:ahLst/>
              <a:cxnLst/>
              <a:rect l="l" t="t" r="r" b="b"/>
              <a:pathLst>
                <a:path w="4354703" h="2585016">
                  <a:moveTo>
                    <a:pt x="0" y="0"/>
                  </a:moveTo>
                  <a:lnTo>
                    <a:pt x="4354703" y="0"/>
                  </a:lnTo>
                  <a:lnTo>
                    <a:pt x="4354703" y="2585016"/>
                  </a:lnTo>
                  <a:lnTo>
                    <a:pt x="0" y="2585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1391" b="-1139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1980515" y="1656904"/>
            <a:ext cx="5368081" cy="3926384"/>
            <a:chOff x="0" y="0"/>
            <a:chExt cx="7157442" cy="523517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157465" cy="5235194"/>
            </a:xfrm>
            <a:custGeom>
              <a:avLst/>
              <a:gdLst/>
              <a:ahLst/>
              <a:cxnLst/>
              <a:rect l="l" t="t" r="r" b="b"/>
              <a:pathLst>
                <a:path w="7157465" h="5235194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7035546" y="0"/>
                  </a:lnTo>
                  <a:cubicBezTo>
                    <a:pt x="7102856" y="0"/>
                    <a:pt x="7157465" y="54610"/>
                    <a:pt x="7157465" y="121920"/>
                  </a:cubicBezTo>
                  <a:lnTo>
                    <a:pt x="7157465" y="5113274"/>
                  </a:lnTo>
                  <a:cubicBezTo>
                    <a:pt x="7157465" y="5180584"/>
                    <a:pt x="7102856" y="5235194"/>
                    <a:pt x="7035546" y="5235194"/>
                  </a:cubicBezTo>
                  <a:lnTo>
                    <a:pt x="121920" y="5235194"/>
                  </a:lnTo>
                  <a:cubicBezTo>
                    <a:pt x="54610" y="5235194"/>
                    <a:pt x="0" y="5180584"/>
                    <a:pt x="0" y="5113274"/>
                  </a:cubicBezTo>
                  <a:close/>
                </a:path>
              </a:pathLst>
            </a:custGeom>
            <a:solidFill>
              <a:srgbClr val="07070C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1980515" y="1637854"/>
            <a:ext cx="5368081" cy="76200"/>
            <a:chOff x="0" y="0"/>
            <a:chExt cx="7157442" cy="101600"/>
          </a:xfrm>
        </p:grpSpPr>
        <p:sp>
          <p:nvSpPr>
            <p:cNvPr id="32" name="Freeform 32" descr="preencoded.png"/>
            <p:cNvSpPr/>
            <p:nvPr/>
          </p:nvSpPr>
          <p:spPr>
            <a:xfrm>
              <a:off x="0" y="0"/>
              <a:ext cx="7157466" cy="101600"/>
            </a:xfrm>
            <a:custGeom>
              <a:avLst/>
              <a:gdLst/>
              <a:ahLst/>
              <a:cxnLst/>
              <a:rect l="l" t="t" r="r" b="b"/>
              <a:pathLst>
                <a:path w="7157466" h="101600">
                  <a:moveTo>
                    <a:pt x="0" y="0"/>
                  </a:moveTo>
                  <a:lnTo>
                    <a:pt x="7157466" y="0"/>
                  </a:lnTo>
                  <a:lnTo>
                    <a:pt x="7157466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7" r="-3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4435584" y="1428006"/>
            <a:ext cx="457795" cy="457795"/>
            <a:chOff x="0" y="0"/>
            <a:chExt cx="610393" cy="610393"/>
          </a:xfrm>
        </p:grpSpPr>
        <p:sp>
          <p:nvSpPr>
            <p:cNvPr id="34" name="Freeform 34" descr="preencoded.png"/>
            <p:cNvSpPr/>
            <p:nvPr/>
          </p:nvSpPr>
          <p:spPr>
            <a:xfrm>
              <a:off x="0" y="0"/>
              <a:ext cx="610362" cy="610362"/>
            </a:xfrm>
            <a:custGeom>
              <a:avLst/>
              <a:gdLst/>
              <a:ahLst/>
              <a:cxnLst/>
              <a:rect l="l" t="t" r="r" b="b"/>
              <a:pathLst>
                <a:path w="610362" h="610362">
                  <a:moveTo>
                    <a:pt x="0" y="0"/>
                  </a:moveTo>
                  <a:lnTo>
                    <a:pt x="610362" y="0"/>
                  </a:lnTo>
                  <a:lnTo>
                    <a:pt x="610362" y="610362"/>
                  </a:lnTo>
                  <a:lnTo>
                    <a:pt x="0" y="6103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5" b="-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4572952" y="1485305"/>
            <a:ext cx="183059" cy="28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143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229164" y="1810226"/>
            <a:ext cx="2870783" cy="35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1"/>
              </a:lnSpc>
            </a:pPr>
            <a:r>
              <a:rPr lang="en-US" sz="2256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Rain Sensor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152114" y="2301776"/>
            <a:ext cx="5024884" cy="718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0"/>
              </a:lnSpc>
            </a:pPr>
            <a:r>
              <a:rPr lang="en-US" sz="18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Detects precipitation and measures rainfall intensity through analog output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13179921" y="3352503"/>
            <a:ext cx="3342035" cy="1879747"/>
            <a:chOff x="0" y="0"/>
            <a:chExt cx="3958828" cy="2226667"/>
          </a:xfrm>
        </p:grpSpPr>
        <p:sp>
          <p:nvSpPr>
            <p:cNvPr id="39" name="Freeform 39" descr="preencoded.png"/>
            <p:cNvSpPr/>
            <p:nvPr/>
          </p:nvSpPr>
          <p:spPr>
            <a:xfrm>
              <a:off x="0" y="0"/>
              <a:ext cx="3958844" cy="2226691"/>
            </a:xfrm>
            <a:custGeom>
              <a:avLst/>
              <a:gdLst/>
              <a:ahLst/>
              <a:cxnLst/>
              <a:rect l="l" t="t" r="r" b="b"/>
              <a:pathLst>
                <a:path w="3958844" h="2226691">
                  <a:moveTo>
                    <a:pt x="0" y="0"/>
                  </a:moveTo>
                  <a:lnTo>
                    <a:pt x="3958844" y="0"/>
                  </a:lnTo>
                  <a:lnTo>
                    <a:pt x="3958844" y="2226691"/>
                  </a:lnTo>
                  <a:lnTo>
                    <a:pt x="0" y="2226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38" r="-138"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39254" y="5964734"/>
            <a:ext cx="5368081" cy="3992612"/>
            <a:chOff x="0" y="0"/>
            <a:chExt cx="7157442" cy="5323483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7157465" cy="5323459"/>
            </a:xfrm>
            <a:custGeom>
              <a:avLst/>
              <a:gdLst/>
              <a:ahLst/>
              <a:cxnLst/>
              <a:rect l="l" t="t" r="r" b="b"/>
              <a:pathLst>
                <a:path w="7157465" h="5323459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7035546" y="0"/>
                  </a:lnTo>
                  <a:cubicBezTo>
                    <a:pt x="7102856" y="0"/>
                    <a:pt x="7157465" y="54610"/>
                    <a:pt x="7157465" y="121920"/>
                  </a:cubicBezTo>
                  <a:lnTo>
                    <a:pt x="7157465" y="5201539"/>
                  </a:lnTo>
                  <a:cubicBezTo>
                    <a:pt x="7157465" y="5268849"/>
                    <a:pt x="7102856" y="5323459"/>
                    <a:pt x="7035546" y="5323459"/>
                  </a:cubicBezTo>
                  <a:lnTo>
                    <a:pt x="121920" y="5323459"/>
                  </a:lnTo>
                  <a:cubicBezTo>
                    <a:pt x="54610" y="5323459"/>
                    <a:pt x="0" y="5268849"/>
                    <a:pt x="0" y="5201539"/>
                  </a:cubicBezTo>
                  <a:close/>
                </a:path>
              </a:pathLst>
            </a:custGeom>
            <a:solidFill>
              <a:srgbClr val="07070C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39254" y="5945684"/>
            <a:ext cx="5368081" cy="76200"/>
            <a:chOff x="0" y="0"/>
            <a:chExt cx="7157442" cy="101600"/>
          </a:xfrm>
        </p:grpSpPr>
        <p:sp>
          <p:nvSpPr>
            <p:cNvPr id="43" name="Freeform 43" descr="preencoded.png"/>
            <p:cNvSpPr/>
            <p:nvPr/>
          </p:nvSpPr>
          <p:spPr>
            <a:xfrm>
              <a:off x="0" y="0"/>
              <a:ext cx="7157466" cy="101600"/>
            </a:xfrm>
            <a:custGeom>
              <a:avLst/>
              <a:gdLst/>
              <a:ahLst/>
              <a:cxnLst/>
              <a:rect l="l" t="t" r="r" b="b"/>
              <a:pathLst>
                <a:path w="7157466" h="101600">
                  <a:moveTo>
                    <a:pt x="0" y="0"/>
                  </a:moveTo>
                  <a:lnTo>
                    <a:pt x="7157466" y="0"/>
                  </a:lnTo>
                  <a:lnTo>
                    <a:pt x="7157466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7" r="-3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3394322" y="5735836"/>
            <a:ext cx="457795" cy="457795"/>
            <a:chOff x="0" y="0"/>
            <a:chExt cx="610393" cy="610393"/>
          </a:xfrm>
        </p:grpSpPr>
        <p:sp>
          <p:nvSpPr>
            <p:cNvPr id="45" name="Freeform 45" descr="preencoded.png"/>
            <p:cNvSpPr/>
            <p:nvPr/>
          </p:nvSpPr>
          <p:spPr>
            <a:xfrm>
              <a:off x="0" y="0"/>
              <a:ext cx="610362" cy="610362"/>
            </a:xfrm>
            <a:custGeom>
              <a:avLst/>
              <a:gdLst/>
              <a:ahLst/>
              <a:cxnLst/>
              <a:rect l="l" t="t" r="r" b="b"/>
              <a:pathLst>
                <a:path w="610362" h="610362">
                  <a:moveTo>
                    <a:pt x="0" y="0"/>
                  </a:moveTo>
                  <a:lnTo>
                    <a:pt x="610362" y="0"/>
                  </a:lnTo>
                  <a:lnTo>
                    <a:pt x="610362" y="610362"/>
                  </a:lnTo>
                  <a:lnTo>
                    <a:pt x="0" y="6103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5" b="-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3531691" y="5793135"/>
            <a:ext cx="183059" cy="286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143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4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708193" y="6245898"/>
            <a:ext cx="3548120" cy="319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71"/>
              </a:lnSpc>
            </a:pPr>
            <a:r>
              <a:rPr lang="en-US" sz="2057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LDR Sensor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10854" y="6822876"/>
            <a:ext cx="5024884" cy="1194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6"/>
              </a:lnSpc>
            </a:pPr>
            <a:r>
              <a:rPr lang="en-US" sz="20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Light Dependent Resistor measures ambient light intensity for solar radiation data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2605756" y="7917189"/>
            <a:ext cx="2015877" cy="2015878"/>
            <a:chOff x="0" y="0"/>
            <a:chExt cx="2687837" cy="2687837"/>
          </a:xfrm>
        </p:grpSpPr>
        <p:sp>
          <p:nvSpPr>
            <p:cNvPr id="50" name="Freeform 50" descr="preencoded.png"/>
            <p:cNvSpPr/>
            <p:nvPr/>
          </p:nvSpPr>
          <p:spPr>
            <a:xfrm>
              <a:off x="0" y="0"/>
              <a:ext cx="2687828" cy="2687828"/>
            </a:xfrm>
            <a:custGeom>
              <a:avLst/>
              <a:gdLst/>
              <a:ahLst/>
              <a:cxnLst/>
              <a:rect l="l" t="t" r="r" b="b"/>
              <a:pathLst>
                <a:path w="2687828" h="2687828">
                  <a:moveTo>
                    <a:pt x="0" y="0"/>
                  </a:moveTo>
                  <a:lnTo>
                    <a:pt x="2687828" y="0"/>
                  </a:lnTo>
                  <a:lnTo>
                    <a:pt x="2687828" y="2687828"/>
                  </a:lnTo>
                  <a:lnTo>
                    <a:pt x="0" y="26878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459885" y="5964734"/>
            <a:ext cx="5368081" cy="3992612"/>
            <a:chOff x="0" y="0"/>
            <a:chExt cx="7157442" cy="5323483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7157465" cy="5323459"/>
            </a:xfrm>
            <a:custGeom>
              <a:avLst/>
              <a:gdLst/>
              <a:ahLst/>
              <a:cxnLst/>
              <a:rect l="l" t="t" r="r" b="b"/>
              <a:pathLst>
                <a:path w="7157465" h="5323459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7035546" y="0"/>
                  </a:lnTo>
                  <a:cubicBezTo>
                    <a:pt x="7102856" y="0"/>
                    <a:pt x="7157465" y="54610"/>
                    <a:pt x="7157465" y="121920"/>
                  </a:cubicBezTo>
                  <a:lnTo>
                    <a:pt x="7157465" y="5201539"/>
                  </a:lnTo>
                  <a:cubicBezTo>
                    <a:pt x="7157465" y="5268849"/>
                    <a:pt x="7102856" y="5323459"/>
                    <a:pt x="7035546" y="5323459"/>
                  </a:cubicBezTo>
                  <a:lnTo>
                    <a:pt x="121920" y="5323459"/>
                  </a:lnTo>
                  <a:cubicBezTo>
                    <a:pt x="54610" y="5323459"/>
                    <a:pt x="0" y="5268849"/>
                    <a:pt x="0" y="5201539"/>
                  </a:cubicBezTo>
                  <a:close/>
                </a:path>
              </a:pathLst>
            </a:custGeom>
            <a:solidFill>
              <a:srgbClr val="07070C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459885" y="5945684"/>
            <a:ext cx="5368081" cy="76200"/>
            <a:chOff x="0" y="0"/>
            <a:chExt cx="7157442" cy="101600"/>
          </a:xfrm>
        </p:grpSpPr>
        <p:sp>
          <p:nvSpPr>
            <p:cNvPr id="54" name="Freeform 54" descr="preencoded.png"/>
            <p:cNvSpPr/>
            <p:nvPr/>
          </p:nvSpPr>
          <p:spPr>
            <a:xfrm>
              <a:off x="0" y="0"/>
              <a:ext cx="7157466" cy="101600"/>
            </a:xfrm>
            <a:custGeom>
              <a:avLst/>
              <a:gdLst/>
              <a:ahLst/>
              <a:cxnLst/>
              <a:rect l="l" t="t" r="r" b="b"/>
              <a:pathLst>
                <a:path w="7157466" h="101600">
                  <a:moveTo>
                    <a:pt x="0" y="0"/>
                  </a:moveTo>
                  <a:lnTo>
                    <a:pt x="7157466" y="0"/>
                  </a:lnTo>
                  <a:lnTo>
                    <a:pt x="7157466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7" r="-3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914954" y="5735836"/>
            <a:ext cx="457795" cy="457795"/>
            <a:chOff x="0" y="0"/>
            <a:chExt cx="610393" cy="610393"/>
          </a:xfrm>
        </p:grpSpPr>
        <p:sp>
          <p:nvSpPr>
            <p:cNvPr id="56" name="Freeform 56" descr="preencoded.png"/>
            <p:cNvSpPr/>
            <p:nvPr/>
          </p:nvSpPr>
          <p:spPr>
            <a:xfrm>
              <a:off x="0" y="0"/>
              <a:ext cx="610362" cy="610362"/>
            </a:xfrm>
            <a:custGeom>
              <a:avLst/>
              <a:gdLst/>
              <a:ahLst/>
              <a:cxnLst/>
              <a:rect l="l" t="t" r="r" b="b"/>
              <a:pathLst>
                <a:path w="610362" h="610362">
                  <a:moveTo>
                    <a:pt x="0" y="0"/>
                  </a:moveTo>
                  <a:lnTo>
                    <a:pt x="610362" y="0"/>
                  </a:lnTo>
                  <a:lnTo>
                    <a:pt x="610362" y="610362"/>
                  </a:lnTo>
                  <a:lnTo>
                    <a:pt x="0" y="6103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5" b="-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9052321" y="5793135"/>
            <a:ext cx="183059" cy="286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143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5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737468" y="6260306"/>
            <a:ext cx="2813063" cy="37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299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BMP180 Sensor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722938" y="6845776"/>
            <a:ext cx="5024884" cy="2085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2"/>
              </a:lnSpc>
            </a:pPr>
            <a:r>
              <a:rPr lang="en-US" sz="17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The </a:t>
            </a:r>
            <a:r>
              <a:rPr lang="en-US" sz="1787" b="1">
                <a:solidFill>
                  <a:srgbClr val="E0D6D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BMP180</a:t>
            </a:r>
            <a:r>
              <a:rPr lang="en-US" sz="17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 is a digital sensor used to measure </a:t>
            </a:r>
            <a:r>
              <a:rPr lang="en-US" sz="1787" b="1">
                <a:solidFill>
                  <a:srgbClr val="E0D6D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atmospheric pressure and temperature</a:t>
            </a:r>
            <a:r>
              <a:rPr lang="en-US" sz="17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. It communicates via the </a:t>
            </a:r>
            <a:r>
              <a:rPr lang="en-US" sz="1787" b="1">
                <a:solidFill>
                  <a:srgbClr val="E0D6D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I²C interface</a:t>
            </a:r>
            <a:r>
              <a:rPr lang="en-US" sz="17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 and provides highly accurate data for weather monitoring and altitude calculation.</a:t>
            </a:r>
          </a:p>
        </p:txBody>
      </p:sp>
      <p:grpSp>
        <p:nvGrpSpPr>
          <p:cNvPr id="60" name="Group 60"/>
          <p:cNvGrpSpPr/>
          <p:nvPr/>
        </p:nvGrpSpPr>
        <p:grpSpPr>
          <a:xfrm>
            <a:off x="11980515" y="5964734"/>
            <a:ext cx="5368081" cy="3992612"/>
            <a:chOff x="0" y="0"/>
            <a:chExt cx="7157442" cy="5323483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7157465" cy="5323459"/>
            </a:xfrm>
            <a:custGeom>
              <a:avLst/>
              <a:gdLst/>
              <a:ahLst/>
              <a:cxnLst/>
              <a:rect l="l" t="t" r="r" b="b"/>
              <a:pathLst>
                <a:path w="7157465" h="5323459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7035546" y="0"/>
                  </a:lnTo>
                  <a:cubicBezTo>
                    <a:pt x="7102856" y="0"/>
                    <a:pt x="7157465" y="54610"/>
                    <a:pt x="7157465" y="121920"/>
                  </a:cubicBezTo>
                  <a:lnTo>
                    <a:pt x="7157465" y="5201539"/>
                  </a:lnTo>
                  <a:cubicBezTo>
                    <a:pt x="7157465" y="5268849"/>
                    <a:pt x="7102856" y="5323459"/>
                    <a:pt x="7035546" y="5323459"/>
                  </a:cubicBezTo>
                  <a:lnTo>
                    <a:pt x="121920" y="5323459"/>
                  </a:lnTo>
                  <a:cubicBezTo>
                    <a:pt x="54610" y="5323459"/>
                    <a:pt x="0" y="5268849"/>
                    <a:pt x="0" y="5201539"/>
                  </a:cubicBezTo>
                  <a:close/>
                </a:path>
              </a:pathLst>
            </a:custGeom>
            <a:solidFill>
              <a:srgbClr val="07070C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1980515" y="5945684"/>
            <a:ext cx="5368081" cy="76200"/>
            <a:chOff x="0" y="0"/>
            <a:chExt cx="7157442" cy="101600"/>
          </a:xfrm>
        </p:grpSpPr>
        <p:sp>
          <p:nvSpPr>
            <p:cNvPr id="63" name="Freeform 63" descr="preencoded.png"/>
            <p:cNvSpPr/>
            <p:nvPr/>
          </p:nvSpPr>
          <p:spPr>
            <a:xfrm>
              <a:off x="0" y="0"/>
              <a:ext cx="7157466" cy="101600"/>
            </a:xfrm>
            <a:custGeom>
              <a:avLst/>
              <a:gdLst/>
              <a:ahLst/>
              <a:cxnLst/>
              <a:rect l="l" t="t" r="r" b="b"/>
              <a:pathLst>
                <a:path w="7157466" h="101600">
                  <a:moveTo>
                    <a:pt x="0" y="0"/>
                  </a:moveTo>
                  <a:lnTo>
                    <a:pt x="7157466" y="0"/>
                  </a:lnTo>
                  <a:lnTo>
                    <a:pt x="7157466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7" r="-3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4435584" y="5735836"/>
            <a:ext cx="457795" cy="457795"/>
            <a:chOff x="0" y="0"/>
            <a:chExt cx="610393" cy="610393"/>
          </a:xfrm>
        </p:grpSpPr>
        <p:sp>
          <p:nvSpPr>
            <p:cNvPr id="65" name="Freeform 65" descr="preencoded.png"/>
            <p:cNvSpPr/>
            <p:nvPr/>
          </p:nvSpPr>
          <p:spPr>
            <a:xfrm>
              <a:off x="0" y="0"/>
              <a:ext cx="610362" cy="610362"/>
            </a:xfrm>
            <a:custGeom>
              <a:avLst/>
              <a:gdLst/>
              <a:ahLst/>
              <a:cxnLst/>
              <a:rect l="l" t="t" r="r" b="b"/>
              <a:pathLst>
                <a:path w="610362" h="610362">
                  <a:moveTo>
                    <a:pt x="0" y="0"/>
                  </a:moveTo>
                  <a:lnTo>
                    <a:pt x="610362" y="0"/>
                  </a:lnTo>
                  <a:lnTo>
                    <a:pt x="610362" y="610362"/>
                  </a:lnTo>
                  <a:lnTo>
                    <a:pt x="0" y="6103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5" b="-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14572952" y="5793135"/>
            <a:ext cx="183059" cy="286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143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6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2734060" y="6326981"/>
            <a:ext cx="3804146" cy="357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4"/>
              </a:lnSpc>
            </a:pPr>
            <a:r>
              <a:rPr lang="en-US" sz="2227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Supporting Components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2152114" y="6822876"/>
            <a:ext cx="5024884" cy="675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2"/>
              </a:lnSpc>
            </a:pPr>
            <a:r>
              <a:rPr lang="en-US" sz="17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Breadboard for prototyping, jumper wires for connections, and power supply (3.3V)</a:t>
            </a:r>
          </a:p>
        </p:txBody>
      </p:sp>
      <p:grpSp>
        <p:nvGrpSpPr>
          <p:cNvPr id="69" name="Group 69"/>
          <p:cNvGrpSpPr/>
          <p:nvPr/>
        </p:nvGrpSpPr>
        <p:grpSpPr>
          <a:xfrm>
            <a:off x="9671031" y="8426273"/>
            <a:ext cx="2481082" cy="1860727"/>
            <a:chOff x="0" y="0"/>
            <a:chExt cx="4354712" cy="3265885"/>
          </a:xfrm>
        </p:grpSpPr>
        <p:sp>
          <p:nvSpPr>
            <p:cNvPr id="70" name="Freeform 70" descr="preencoded.png"/>
            <p:cNvSpPr/>
            <p:nvPr/>
          </p:nvSpPr>
          <p:spPr>
            <a:xfrm>
              <a:off x="0" y="0"/>
              <a:ext cx="4354703" cy="3265932"/>
            </a:xfrm>
            <a:custGeom>
              <a:avLst/>
              <a:gdLst/>
              <a:ahLst/>
              <a:cxnLst/>
              <a:rect l="l" t="t" r="r" b="b"/>
              <a:pathLst>
                <a:path w="4354703" h="3265932">
                  <a:moveTo>
                    <a:pt x="0" y="0"/>
                  </a:moveTo>
                  <a:lnTo>
                    <a:pt x="4354703" y="0"/>
                  </a:lnTo>
                  <a:lnTo>
                    <a:pt x="4354703" y="3265932"/>
                  </a:lnTo>
                  <a:lnTo>
                    <a:pt x="0" y="326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46" r="-46"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30000">
        <p159:morph option="byObject"/>
      </p:transition>
    </mc:Choice>
    <mc:Fallback>
      <p:transition spd="slow" advTm="30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070C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731639"/>
            <a:ext cx="4880670" cy="629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2"/>
              </a:lnSpc>
            </a:pPr>
            <a:r>
              <a:rPr lang="en-US" sz="3625">
                <a:solidFill>
                  <a:srgbClr val="97B8FF"/>
                </a:solidFill>
                <a:latin typeface="Arimo"/>
                <a:ea typeface="Arimo"/>
                <a:cs typeface="Arimo"/>
                <a:sym typeface="Arimo"/>
              </a:rPr>
              <a:t>System Architecture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3030141" y="1732806"/>
            <a:ext cx="10654163" cy="5813955"/>
            <a:chOff x="0" y="0"/>
            <a:chExt cx="16303427" cy="8896747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6303371" cy="8896731"/>
            </a:xfrm>
            <a:custGeom>
              <a:avLst/>
              <a:gdLst/>
              <a:ahLst/>
              <a:cxnLst/>
              <a:rect l="l" t="t" r="r" b="b"/>
              <a:pathLst>
                <a:path w="16303371" h="8896731">
                  <a:moveTo>
                    <a:pt x="0" y="0"/>
                  </a:moveTo>
                  <a:lnTo>
                    <a:pt x="16303371" y="0"/>
                  </a:lnTo>
                  <a:lnTo>
                    <a:pt x="16303371" y="8896731"/>
                  </a:lnTo>
                  <a:lnTo>
                    <a:pt x="0" y="8896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3" b="-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092054" y="3702418"/>
            <a:ext cx="2530337" cy="927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29"/>
              </a:lnSpc>
            </a:pPr>
            <a:r>
              <a:rPr lang="en-US" sz="198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Real-time Environmental Monitoring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169861" y="4894557"/>
            <a:ext cx="2530337" cy="875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0"/>
              </a:lnSpc>
            </a:pPr>
            <a:r>
              <a:rPr lang="en-US" sz="1812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An IoT system for tracking environmental conditions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645752" y="2724367"/>
            <a:ext cx="2648027" cy="346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3"/>
              </a:lnSpc>
            </a:pPr>
            <a:r>
              <a:rPr lang="en-US" sz="218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Data Processing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510408" y="3175958"/>
            <a:ext cx="2918715" cy="763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73"/>
              </a:lnSpc>
            </a:pPr>
            <a:r>
              <a:rPr lang="en-US" sz="1612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NodeMCU ESP8266 aggregates and processes sensor inputs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491053" y="5592007"/>
            <a:ext cx="2671199" cy="346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3"/>
              </a:lnSpc>
            </a:pPr>
            <a:r>
              <a:rPr lang="en-US" sz="218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Cloud Transmission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367294" y="6011929"/>
            <a:ext cx="2918716" cy="875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0"/>
              </a:lnSpc>
            </a:pPr>
            <a:r>
              <a:rPr lang="en-US" sz="1812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Wi-Fi sends processed data to the Blynk Cloud platform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601510" y="2187701"/>
            <a:ext cx="2918715" cy="337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1"/>
              </a:lnSpc>
            </a:pPr>
            <a:r>
              <a:rPr lang="en-US" sz="2087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Sensor Data Collection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620560" y="2515185"/>
            <a:ext cx="2918715" cy="875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0"/>
              </a:lnSpc>
            </a:pPr>
            <a:r>
              <a:rPr lang="en-US" sz="1812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DHT11, Rain, and LDR sensors gather environmental data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57100" y="6117775"/>
            <a:ext cx="2725998" cy="346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3"/>
              </a:lnSpc>
            </a:pPr>
            <a:r>
              <a:rPr lang="en-US" sz="2187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Mobile Visualization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57100" y="6552951"/>
            <a:ext cx="2918715" cy="70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</a:pPr>
            <a:r>
              <a:rPr lang="en-US" sz="1512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Real-time display of environmental data on a mobile app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92237" y="8308761"/>
            <a:ext cx="16303526" cy="1760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23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The system follows a modular architecture where distributed sensors collect environmental parameters. The NodeMCU ESP8266 acts as the central processing unit, aggregating sensor readings and managing Wi-Fi communication. Data packets are transmitted securely to the Blynk cloud platform, which stores and visualizes the information for user access through mobile and web applications.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 advTm="30000">
        <p14:pan dir="u"/>
      </p:transition>
    </mc:Choice>
    <mc:Fallback>
      <p:transition spd="slow" advTm="30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070C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1922412"/>
            <a:ext cx="12713494" cy="813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>
                <a:solidFill>
                  <a:srgbClr val="97B8FF"/>
                </a:solidFill>
                <a:latin typeface="Arimo"/>
                <a:ea typeface="Arimo"/>
                <a:cs typeface="Arimo"/>
                <a:sym typeface="Arimo"/>
              </a:rPr>
              <a:t>Circuit Connections &amp; Pin Configuration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87475" y="3226891"/>
            <a:ext cx="16313051" cy="5104210"/>
            <a:chOff x="0" y="0"/>
            <a:chExt cx="21750735" cy="680561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750782" cy="6805549"/>
            </a:xfrm>
            <a:custGeom>
              <a:avLst/>
              <a:gdLst/>
              <a:ahLst/>
              <a:cxnLst/>
              <a:rect l="l" t="t" r="r" b="b"/>
              <a:pathLst>
                <a:path w="21750782" h="6805549">
                  <a:moveTo>
                    <a:pt x="0" y="55880"/>
                  </a:moveTo>
                  <a:cubicBezTo>
                    <a:pt x="0" y="25019"/>
                    <a:pt x="25019" y="0"/>
                    <a:pt x="56007" y="0"/>
                  </a:cubicBezTo>
                  <a:lnTo>
                    <a:pt x="21694775" y="0"/>
                  </a:lnTo>
                  <a:lnTo>
                    <a:pt x="21694775" y="6350"/>
                  </a:lnTo>
                  <a:lnTo>
                    <a:pt x="21694775" y="0"/>
                  </a:lnTo>
                  <a:cubicBezTo>
                    <a:pt x="21725637" y="0"/>
                    <a:pt x="21750782" y="25019"/>
                    <a:pt x="21750782" y="55880"/>
                  </a:cubicBezTo>
                  <a:lnTo>
                    <a:pt x="21744432" y="55880"/>
                  </a:lnTo>
                  <a:lnTo>
                    <a:pt x="21750782" y="55880"/>
                  </a:lnTo>
                  <a:lnTo>
                    <a:pt x="21750782" y="6749669"/>
                  </a:lnTo>
                  <a:lnTo>
                    <a:pt x="21744432" y="6749669"/>
                  </a:lnTo>
                  <a:lnTo>
                    <a:pt x="21750782" y="6749669"/>
                  </a:lnTo>
                  <a:cubicBezTo>
                    <a:pt x="21750782" y="6780530"/>
                    <a:pt x="21725762" y="6805549"/>
                    <a:pt x="21694775" y="6805549"/>
                  </a:cubicBezTo>
                  <a:lnTo>
                    <a:pt x="21694775" y="6799199"/>
                  </a:lnTo>
                  <a:lnTo>
                    <a:pt x="21694775" y="6805549"/>
                  </a:lnTo>
                  <a:lnTo>
                    <a:pt x="56007" y="6805549"/>
                  </a:lnTo>
                  <a:lnTo>
                    <a:pt x="56007" y="6799199"/>
                  </a:lnTo>
                  <a:lnTo>
                    <a:pt x="56007" y="6805549"/>
                  </a:lnTo>
                  <a:cubicBezTo>
                    <a:pt x="25146" y="6805549"/>
                    <a:pt x="0" y="6780530"/>
                    <a:pt x="0" y="6749669"/>
                  </a:cubicBezTo>
                  <a:lnTo>
                    <a:pt x="0" y="55880"/>
                  </a:lnTo>
                  <a:lnTo>
                    <a:pt x="6350" y="55880"/>
                  </a:lnTo>
                  <a:lnTo>
                    <a:pt x="0" y="55880"/>
                  </a:lnTo>
                  <a:moveTo>
                    <a:pt x="12700" y="55880"/>
                  </a:moveTo>
                  <a:lnTo>
                    <a:pt x="12700" y="6749669"/>
                  </a:lnTo>
                  <a:lnTo>
                    <a:pt x="6350" y="6749669"/>
                  </a:lnTo>
                  <a:lnTo>
                    <a:pt x="12700" y="6749669"/>
                  </a:lnTo>
                  <a:cubicBezTo>
                    <a:pt x="12700" y="6773545"/>
                    <a:pt x="32131" y="6792849"/>
                    <a:pt x="56007" y="6792849"/>
                  </a:cubicBezTo>
                  <a:lnTo>
                    <a:pt x="21694775" y="6792849"/>
                  </a:lnTo>
                  <a:cubicBezTo>
                    <a:pt x="21718651" y="6792849"/>
                    <a:pt x="21738082" y="6773545"/>
                    <a:pt x="21738082" y="6749669"/>
                  </a:cubicBezTo>
                  <a:lnTo>
                    <a:pt x="21738082" y="55880"/>
                  </a:lnTo>
                  <a:cubicBezTo>
                    <a:pt x="21738082" y="32004"/>
                    <a:pt x="21718651" y="12700"/>
                    <a:pt x="21694775" y="12700"/>
                  </a:cubicBezTo>
                  <a:lnTo>
                    <a:pt x="56007" y="12700"/>
                  </a:lnTo>
                  <a:lnTo>
                    <a:pt x="56007" y="6350"/>
                  </a:lnTo>
                  <a:lnTo>
                    <a:pt x="56007" y="12700"/>
                  </a:lnTo>
                  <a:cubicBezTo>
                    <a:pt x="32131" y="12700"/>
                    <a:pt x="12700" y="32004"/>
                    <a:pt x="12700" y="55880"/>
                  </a:cubicBez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01762" y="3241179"/>
            <a:ext cx="16284476" cy="713631"/>
            <a:chOff x="0" y="0"/>
            <a:chExt cx="21712635" cy="95150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12682" cy="951484"/>
            </a:xfrm>
            <a:custGeom>
              <a:avLst/>
              <a:gdLst/>
              <a:ahLst/>
              <a:cxnLst/>
              <a:rect l="l" t="t" r="r" b="b"/>
              <a:pathLst>
                <a:path w="21712682" h="951484">
                  <a:moveTo>
                    <a:pt x="0" y="0"/>
                  </a:moveTo>
                  <a:lnTo>
                    <a:pt x="21712682" y="0"/>
                  </a:lnTo>
                  <a:lnTo>
                    <a:pt x="21712682" y="951484"/>
                  </a:lnTo>
                  <a:lnTo>
                    <a:pt x="0" y="951484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883099" y="3313807"/>
            <a:ext cx="4379862" cy="482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 b="1">
                <a:solidFill>
                  <a:srgbClr val="E0D6D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Sensor Component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768381" y="3313807"/>
            <a:ext cx="4379862" cy="482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 b="1">
                <a:solidFill>
                  <a:srgbClr val="E0D6D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Pin Connection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653665" y="3313807"/>
            <a:ext cx="4384625" cy="482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 b="1">
                <a:solidFill>
                  <a:srgbClr val="E0D6D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Notes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001762" y="3954810"/>
            <a:ext cx="16284476" cy="1110555"/>
            <a:chOff x="0" y="0"/>
            <a:chExt cx="21712635" cy="14807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712682" cy="1480693"/>
            </a:xfrm>
            <a:custGeom>
              <a:avLst/>
              <a:gdLst/>
              <a:ahLst/>
              <a:cxnLst/>
              <a:rect l="l" t="t" r="r" b="b"/>
              <a:pathLst>
                <a:path w="21712682" h="1480693">
                  <a:moveTo>
                    <a:pt x="0" y="0"/>
                  </a:moveTo>
                  <a:lnTo>
                    <a:pt x="21712682" y="0"/>
                  </a:lnTo>
                  <a:lnTo>
                    <a:pt x="21712682" y="1480693"/>
                  </a:lnTo>
                  <a:lnTo>
                    <a:pt x="0" y="14806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883099" y="4027437"/>
            <a:ext cx="4379862" cy="482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DHT11 (Data)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768381" y="4027437"/>
            <a:ext cx="4379862" cy="482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GPIO D4 (Pin 2)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653665" y="4027437"/>
            <a:ext cx="4384625" cy="879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Digital signal with internal pull-up required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01762" y="5065365"/>
            <a:ext cx="16284476" cy="713631"/>
            <a:chOff x="0" y="0"/>
            <a:chExt cx="21712635" cy="95150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712682" cy="951484"/>
            </a:xfrm>
            <a:custGeom>
              <a:avLst/>
              <a:gdLst/>
              <a:ahLst/>
              <a:cxnLst/>
              <a:rect l="l" t="t" r="r" b="b"/>
              <a:pathLst>
                <a:path w="21712682" h="951484">
                  <a:moveTo>
                    <a:pt x="0" y="0"/>
                  </a:moveTo>
                  <a:lnTo>
                    <a:pt x="21712682" y="0"/>
                  </a:lnTo>
                  <a:lnTo>
                    <a:pt x="21712682" y="951484"/>
                  </a:lnTo>
                  <a:lnTo>
                    <a:pt x="0" y="951484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2883099" y="5137994"/>
            <a:ext cx="4379862" cy="482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Rain Sensor (Analog Out)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768381" y="5137994"/>
            <a:ext cx="4379862" cy="482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A0 (ADC)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653665" y="5137994"/>
            <a:ext cx="4384625" cy="482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Analog input, 0-1023 range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001762" y="5778996"/>
            <a:ext cx="16284476" cy="1110555"/>
            <a:chOff x="0" y="0"/>
            <a:chExt cx="21712635" cy="148074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1712682" cy="1480693"/>
            </a:xfrm>
            <a:custGeom>
              <a:avLst/>
              <a:gdLst/>
              <a:ahLst/>
              <a:cxnLst/>
              <a:rect l="l" t="t" r="r" b="b"/>
              <a:pathLst>
                <a:path w="21712682" h="1480693">
                  <a:moveTo>
                    <a:pt x="0" y="0"/>
                  </a:moveTo>
                  <a:lnTo>
                    <a:pt x="21712682" y="0"/>
                  </a:lnTo>
                  <a:lnTo>
                    <a:pt x="21712682" y="1480693"/>
                  </a:lnTo>
                  <a:lnTo>
                    <a:pt x="0" y="14806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2883099" y="5851624"/>
            <a:ext cx="4379862" cy="482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LDR Sensor (Analog Out)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768381" y="5851624"/>
            <a:ext cx="4379862" cy="482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A0 (ADC) via MUX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653665" y="5851624"/>
            <a:ext cx="4384625" cy="879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Can be multiplexed or use separate channel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001762" y="6889551"/>
            <a:ext cx="16284476" cy="713631"/>
            <a:chOff x="0" y="0"/>
            <a:chExt cx="21712635" cy="95150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1712682" cy="951484"/>
            </a:xfrm>
            <a:custGeom>
              <a:avLst/>
              <a:gdLst/>
              <a:ahLst/>
              <a:cxnLst/>
              <a:rect l="l" t="t" r="r" b="b"/>
              <a:pathLst>
                <a:path w="21712682" h="951484">
                  <a:moveTo>
                    <a:pt x="0" y="0"/>
                  </a:moveTo>
                  <a:lnTo>
                    <a:pt x="21712682" y="0"/>
                  </a:lnTo>
                  <a:lnTo>
                    <a:pt x="21712682" y="951484"/>
                  </a:lnTo>
                  <a:lnTo>
                    <a:pt x="0" y="951484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2883099" y="6962180"/>
            <a:ext cx="4379862" cy="482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Power Supply (VCC)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768381" y="6962180"/>
            <a:ext cx="4379862" cy="482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3.3V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653665" y="6962180"/>
            <a:ext cx="4384625" cy="482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Regulated power for all components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001762" y="7603182"/>
            <a:ext cx="16284476" cy="713631"/>
            <a:chOff x="0" y="0"/>
            <a:chExt cx="21712635" cy="95150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1712682" cy="951484"/>
            </a:xfrm>
            <a:custGeom>
              <a:avLst/>
              <a:gdLst/>
              <a:ahLst/>
              <a:cxnLst/>
              <a:rect l="l" t="t" r="r" b="b"/>
              <a:pathLst>
                <a:path w="21712682" h="951484">
                  <a:moveTo>
                    <a:pt x="0" y="0"/>
                  </a:moveTo>
                  <a:lnTo>
                    <a:pt x="21712682" y="0"/>
                  </a:lnTo>
                  <a:lnTo>
                    <a:pt x="21712682" y="951484"/>
                  </a:lnTo>
                  <a:lnTo>
                    <a:pt x="0" y="9514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2883099" y="7675810"/>
            <a:ext cx="4379862" cy="482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Ground Reference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768381" y="7675810"/>
            <a:ext cx="4379862" cy="482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GND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653665" y="7675810"/>
            <a:ext cx="4384625" cy="482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Common ground for all circuits</a:t>
            </a:r>
          </a:p>
        </p:txBody>
      </p:sp>
    </p:spTree>
  </p:cSld>
  <p:clrMapOvr>
    <a:masterClrMapping/>
  </p:clrMapOvr>
  <p:transition spd="slow" advTm="30000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070C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737741"/>
            <a:ext cx="5590580" cy="735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37"/>
              </a:lnSpc>
            </a:pPr>
            <a:r>
              <a:rPr lang="en-US" sz="4375">
                <a:solidFill>
                  <a:srgbClr val="97B8FF"/>
                </a:solidFill>
                <a:latin typeface="Arimo"/>
                <a:ea typeface="Arimo"/>
                <a:cs typeface="Arimo"/>
                <a:sym typeface="Arimo"/>
              </a:rPr>
              <a:t>Operating Principle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92238" y="1920031"/>
            <a:ext cx="669726" cy="1428750"/>
            <a:chOff x="0" y="0"/>
            <a:chExt cx="892968" cy="1905000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892937" cy="1905000"/>
            </a:xfrm>
            <a:custGeom>
              <a:avLst/>
              <a:gdLst/>
              <a:ahLst/>
              <a:cxnLst/>
              <a:rect l="l" t="t" r="r" b="b"/>
              <a:pathLst>
                <a:path w="892937" h="1905000">
                  <a:moveTo>
                    <a:pt x="0" y="0"/>
                  </a:moveTo>
                  <a:lnTo>
                    <a:pt x="892937" y="0"/>
                  </a:lnTo>
                  <a:lnTo>
                    <a:pt x="892937" y="1905000"/>
                  </a:lnTo>
                  <a:lnTo>
                    <a:pt x="0" y="190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23" r="-3" b="-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866156" y="2027890"/>
            <a:ext cx="6742570" cy="521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6"/>
              </a:lnSpc>
            </a:pPr>
            <a:r>
              <a:rPr lang="en-US" sz="3187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Environmental Sensing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85206" y="2540199"/>
            <a:ext cx="15410557" cy="426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6"/>
              </a:lnSpc>
            </a:pPr>
            <a:r>
              <a:rPr lang="en-US" sz="2249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Distributed sensors continuously detect temperature, humidity, rainfall, and light intensity from the environment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327100" y="3482876"/>
            <a:ext cx="669726" cy="1428750"/>
            <a:chOff x="0" y="0"/>
            <a:chExt cx="892968" cy="1905000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892937" cy="1905000"/>
            </a:xfrm>
            <a:custGeom>
              <a:avLst/>
              <a:gdLst/>
              <a:ahLst/>
              <a:cxnLst/>
              <a:rect l="l" t="t" r="r" b="b"/>
              <a:pathLst>
                <a:path w="892937" h="1905000">
                  <a:moveTo>
                    <a:pt x="0" y="0"/>
                  </a:moveTo>
                  <a:lnTo>
                    <a:pt x="892937" y="0"/>
                  </a:lnTo>
                  <a:lnTo>
                    <a:pt x="892937" y="1905000"/>
                  </a:lnTo>
                  <a:lnTo>
                    <a:pt x="0" y="190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23" r="-3" b="-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220069" y="3687068"/>
            <a:ext cx="5064729" cy="456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7"/>
              </a:lnSpc>
            </a:pPr>
            <a:r>
              <a:rPr lang="en-US" sz="2887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Data Collection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20069" y="4103042"/>
            <a:ext cx="15075694" cy="426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6"/>
              </a:lnSpc>
            </a:pPr>
            <a:r>
              <a:rPr lang="en-US" sz="2249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NodeMCU reads analog and digital signals from sensors via GPIO pins and ADC converter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661964" y="5045720"/>
            <a:ext cx="669726" cy="1428750"/>
            <a:chOff x="0" y="0"/>
            <a:chExt cx="892968" cy="1905000"/>
          </a:xfrm>
        </p:grpSpPr>
        <p:sp>
          <p:nvSpPr>
            <p:cNvPr id="16" name="Freeform 16" descr="preencoded.png"/>
            <p:cNvSpPr/>
            <p:nvPr/>
          </p:nvSpPr>
          <p:spPr>
            <a:xfrm>
              <a:off x="0" y="0"/>
              <a:ext cx="892937" cy="1905000"/>
            </a:xfrm>
            <a:custGeom>
              <a:avLst/>
              <a:gdLst/>
              <a:ahLst/>
              <a:cxnLst/>
              <a:rect l="l" t="t" r="r" b="b"/>
              <a:pathLst>
                <a:path w="892937" h="1905000">
                  <a:moveTo>
                    <a:pt x="0" y="0"/>
                  </a:moveTo>
                  <a:lnTo>
                    <a:pt x="892937" y="0"/>
                  </a:lnTo>
                  <a:lnTo>
                    <a:pt x="892937" y="1905000"/>
                  </a:lnTo>
                  <a:lnTo>
                    <a:pt x="0" y="190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23" r="-3" b="-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2554933" y="5240387"/>
            <a:ext cx="5420685" cy="447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4"/>
              </a:lnSpc>
            </a:pPr>
            <a:r>
              <a:rPr lang="en-US" sz="2787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Processing &amp; Validation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554933" y="5665886"/>
            <a:ext cx="14740830" cy="426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6"/>
              </a:lnSpc>
            </a:pPr>
            <a:r>
              <a:rPr lang="en-US" sz="2249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Microcontroller processes raw sensor values, applies calibration, and validates data quality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996976" y="6608564"/>
            <a:ext cx="669726" cy="1428750"/>
            <a:chOff x="0" y="0"/>
            <a:chExt cx="892968" cy="1905000"/>
          </a:xfrm>
        </p:grpSpPr>
        <p:sp>
          <p:nvSpPr>
            <p:cNvPr id="20" name="Freeform 20" descr="preencoded.png"/>
            <p:cNvSpPr/>
            <p:nvPr/>
          </p:nvSpPr>
          <p:spPr>
            <a:xfrm>
              <a:off x="0" y="0"/>
              <a:ext cx="892937" cy="1905000"/>
            </a:xfrm>
            <a:custGeom>
              <a:avLst/>
              <a:gdLst/>
              <a:ahLst/>
              <a:cxnLst/>
              <a:rect l="l" t="t" r="r" b="b"/>
              <a:pathLst>
                <a:path w="892937" h="1905000">
                  <a:moveTo>
                    <a:pt x="0" y="0"/>
                  </a:moveTo>
                  <a:lnTo>
                    <a:pt x="892937" y="0"/>
                  </a:lnTo>
                  <a:lnTo>
                    <a:pt x="892937" y="1905000"/>
                  </a:lnTo>
                  <a:lnTo>
                    <a:pt x="0" y="190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23" r="-3" b="-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2889945" y="6803231"/>
            <a:ext cx="4801711" cy="437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687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Cloud Transmission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889945" y="7228731"/>
            <a:ext cx="14405819" cy="426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6"/>
              </a:lnSpc>
            </a:pPr>
            <a:r>
              <a:rPr lang="en-US" sz="2249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Data is formatted and transmitted to Blynk servers via Wi-Fi at regular intervals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661964" y="8171409"/>
            <a:ext cx="669726" cy="1428750"/>
            <a:chOff x="0" y="0"/>
            <a:chExt cx="892968" cy="1905000"/>
          </a:xfrm>
        </p:grpSpPr>
        <p:sp>
          <p:nvSpPr>
            <p:cNvPr id="24" name="Freeform 24" descr="preencoded.png"/>
            <p:cNvSpPr/>
            <p:nvPr/>
          </p:nvSpPr>
          <p:spPr>
            <a:xfrm>
              <a:off x="0" y="0"/>
              <a:ext cx="892937" cy="1905000"/>
            </a:xfrm>
            <a:custGeom>
              <a:avLst/>
              <a:gdLst/>
              <a:ahLst/>
              <a:cxnLst/>
              <a:rect l="l" t="t" r="r" b="b"/>
              <a:pathLst>
                <a:path w="892937" h="1905000">
                  <a:moveTo>
                    <a:pt x="0" y="0"/>
                  </a:moveTo>
                  <a:lnTo>
                    <a:pt x="892937" y="0"/>
                  </a:lnTo>
                  <a:lnTo>
                    <a:pt x="892937" y="1905000"/>
                  </a:lnTo>
                  <a:lnTo>
                    <a:pt x="0" y="190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23" r="-3" b="-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2554932" y="8148583"/>
            <a:ext cx="5631117" cy="493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93"/>
              </a:lnSpc>
            </a:pPr>
            <a:r>
              <a:rPr lang="en-US" sz="3087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Real-Time Visualization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554933" y="8791575"/>
            <a:ext cx="14740830" cy="426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6"/>
              </a:lnSpc>
            </a:pPr>
            <a:r>
              <a:rPr lang="en-US" sz="2249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Blynk app displays live readings using interactive gauges, graphs, and numerical displays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 advTm="30000">
        <p14:reveal/>
      </p:transition>
    </mc:Choice>
    <mc:Fallback>
      <p:transition spd="slow" advTm="30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070C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84945" y="629542"/>
            <a:ext cx="9460111" cy="158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4812">
                <a:solidFill>
                  <a:srgbClr val="97B8FF"/>
                </a:solidFill>
                <a:latin typeface="Arimo"/>
                <a:ea typeface="Arimo"/>
                <a:cs typeface="Arimo"/>
                <a:sym typeface="Arimo"/>
              </a:rPr>
              <a:t>Software Development Environment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84945" y="2585740"/>
            <a:ext cx="4606975" cy="3980110"/>
            <a:chOff x="0" y="0"/>
            <a:chExt cx="6142633" cy="530681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142609" cy="5306822"/>
            </a:xfrm>
            <a:custGeom>
              <a:avLst/>
              <a:gdLst/>
              <a:ahLst/>
              <a:cxnLst/>
              <a:rect l="l" t="t" r="r" b="b"/>
              <a:pathLst>
                <a:path w="6142609" h="5306822">
                  <a:moveTo>
                    <a:pt x="0" y="49276"/>
                  </a:moveTo>
                  <a:cubicBezTo>
                    <a:pt x="0" y="22098"/>
                    <a:pt x="22098" y="0"/>
                    <a:pt x="49276" y="0"/>
                  </a:cubicBezTo>
                  <a:lnTo>
                    <a:pt x="6093333" y="0"/>
                  </a:lnTo>
                  <a:cubicBezTo>
                    <a:pt x="6120511" y="0"/>
                    <a:pt x="6142609" y="22098"/>
                    <a:pt x="6142609" y="49276"/>
                  </a:cubicBezTo>
                  <a:lnTo>
                    <a:pt x="6142609" y="5257546"/>
                  </a:lnTo>
                  <a:cubicBezTo>
                    <a:pt x="6142609" y="5284724"/>
                    <a:pt x="6120511" y="5306822"/>
                    <a:pt x="6093333" y="5306822"/>
                  </a:cubicBezTo>
                  <a:lnTo>
                    <a:pt x="49276" y="5306822"/>
                  </a:lnTo>
                  <a:cubicBezTo>
                    <a:pt x="22098" y="5306822"/>
                    <a:pt x="0" y="5284724"/>
                    <a:pt x="0" y="5257546"/>
                  </a:cubicBezTo>
                  <a:close/>
                </a:path>
              </a:pathLst>
            </a:custGeom>
            <a:solidFill>
              <a:srgbClr val="26262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31106" y="2831901"/>
            <a:ext cx="738782" cy="738783"/>
            <a:chOff x="0" y="0"/>
            <a:chExt cx="985043" cy="985043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985012" cy="985012"/>
            </a:xfrm>
            <a:custGeom>
              <a:avLst/>
              <a:gdLst/>
              <a:ahLst/>
              <a:cxnLst/>
              <a:rect l="l" t="t" r="r" b="b"/>
              <a:pathLst>
                <a:path w="985012" h="985012">
                  <a:moveTo>
                    <a:pt x="0" y="0"/>
                  </a:moveTo>
                  <a:lnTo>
                    <a:pt x="985012" y="0"/>
                  </a:lnTo>
                  <a:lnTo>
                    <a:pt x="985012" y="985012"/>
                  </a:lnTo>
                  <a:lnTo>
                    <a:pt x="0" y="985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3" b="-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Freeform 13" descr="preencoded.png"/>
          <p:cNvSpPr/>
          <p:nvPr/>
        </p:nvSpPr>
        <p:spPr>
          <a:xfrm>
            <a:off x="1434256" y="3035052"/>
            <a:ext cx="332334" cy="332334"/>
          </a:xfrm>
          <a:custGeom>
            <a:avLst/>
            <a:gdLst/>
            <a:ahLst/>
            <a:cxnLst/>
            <a:rect l="l" t="t" r="r" b="b"/>
            <a:pathLst>
              <a:path w="332334" h="332334">
                <a:moveTo>
                  <a:pt x="0" y="0"/>
                </a:moveTo>
                <a:lnTo>
                  <a:pt x="332334" y="0"/>
                </a:lnTo>
                <a:lnTo>
                  <a:pt x="332334" y="332334"/>
                </a:lnTo>
                <a:lnTo>
                  <a:pt x="0" y="3323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2857" r="-2857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TextBox 14"/>
          <p:cNvSpPr txBox="1"/>
          <p:nvPr/>
        </p:nvSpPr>
        <p:spPr>
          <a:xfrm>
            <a:off x="1231106" y="3729328"/>
            <a:ext cx="3078212" cy="462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1"/>
              </a:lnSpc>
            </a:pPr>
            <a:r>
              <a:rPr lang="en-US" sz="2874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Arduino IDE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31106" y="4273004"/>
            <a:ext cx="4114651" cy="2115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8"/>
              </a:lnSpc>
            </a:pPr>
            <a:r>
              <a:rPr lang="en-US" sz="213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Integrated development environment for writing, compiling, and uploading firmware to NodeMCU boards with ESP8266 board support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5838081" y="2585740"/>
            <a:ext cx="4606975" cy="3980110"/>
            <a:chOff x="0" y="0"/>
            <a:chExt cx="6142633" cy="530681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142609" cy="5306822"/>
            </a:xfrm>
            <a:custGeom>
              <a:avLst/>
              <a:gdLst/>
              <a:ahLst/>
              <a:cxnLst/>
              <a:rect l="l" t="t" r="r" b="b"/>
              <a:pathLst>
                <a:path w="6142609" h="5306822">
                  <a:moveTo>
                    <a:pt x="0" y="49276"/>
                  </a:moveTo>
                  <a:cubicBezTo>
                    <a:pt x="0" y="22098"/>
                    <a:pt x="22098" y="0"/>
                    <a:pt x="49276" y="0"/>
                  </a:cubicBezTo>
                  <a:lnTo>
                    <a:pt x="6093333" y="0"/>
                  </a:lnTo>
                  <a:cubicBezTo>
                    <a:pt x="6120511" y="0"/>
                    <a:pt x="6142609" y="22098"/>
                    <a:pt x="6142609" y="49276"/>
                  </a:cubicBezTo>
                  <a:lnTo>
                    <a:pt x="6142609" y="5257546"/>
                  </a:lnTo>
                  <a:cubicBezTo>
                    <a:pt x="6142609" y="5284724"/>
                    <a:pt x="6120511" y="5306822"/>
                    <a:pt x="6093333" y="5306822"/>
                  </a:cubicBezTo>
                  <a:lnTo>
                    <a:pt x="49276" y="5306822"/>
                  </a:lnTo>
                  <a:cubicBezTo>
                    <a:pt x="22098" y="5306822"/>
                    <a:pt x="0" y="5284724"/>
                    <a:pt x="0" y="5257546"/>
                  </a:cubicBezTo>
                  <a:close/>
                </a:path>
              </a:pathLst>
            </a:custGeom>
            <a:solidFill>
              <a:srgbClr val="26262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84242" y="2831901"/>
            <a:ext cx="738783" cy="738783"/>
            <a:chOff x="0" y="0"/>
            <a:chExt cx="985043" cy="985043"/>
          </a:xfrm>
        </p:grpSpPr>
        <p:sp>
          <p:nvSpPr>
            <p:cNvPr id="19" name="Freeform 19" descr="preencoded.png"/>
            <p:cNvSpPr/>
            <p:nvPr/>
          </p:nvSpPr>
          <p:spPr>
            <a:xfrm>
              <a:off x="0" y="0"/>
              <a:ext cx="985012" cy="985012"/>
            </a:xfrm>
            <a:custGeom>
              <a:avLst/>
              <a:gdLst/>
              <a:ahLst/>
              <a:cxnLst/>
              <a:rect l="l" t="t" r="r" b="b"/>
              <a:pathLst>
                <a:path w="985012" h="985012">
                  <a:moveTo>
                    <a:pt x="0" y="0"/>
                  </a:moveTo>
                  <a:lnTo>
                    <a:pt x="985012" y="0"/>
                  </a:lnTo>
                  <a:lnTo>
                    <a:pt x="985012" y="985012"/>
                  </a:lnTo>
                  <a:lnTo>
                    <a:pt x="0" y="985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-3" b="-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" name="Freeform 20" descr="preencoded.png"/>
          <p:cNvSpPr/>
          <p:nvPr/>
        </p:nvSpPr>
        <p:spPr>
          <a:xfrm>
            <a:off x="6287392" y="3035052"/>
            <a:ext cx="332334" cy="332334"/>
          </a:xfrm>
          <a:custGeom>
            <a:avLst/>
            <a:gdLst/>
            <a:ahLst/>
            <a:cxnLst/>
            <a:rect l="l" t="t" r="r" b="b"/>
            <a:pathLst>
              <a:path w="332334" h="332334">
                <a:moveTo>
                  <a:pt x="0" y="0"/>
                </a:moveTo>
                <a:lnTo>
                  <a:pt x="332334" y="0"/>
                </a:lnTo>
                <a:lnTo>
                  <a:pt x="332334" y="332334"/>
                </a:lnTo>
                <a:lnTo>
                  <a:pt x="0" y="3323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15714" b="-1571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1" name="TextBox 21"/>
          <p:cNvSpPr txBox="1"/>
          <p:nvPr/>
        </p:nvSpPr>
        <p:spPr>
          <a:xfrm>
            <a:off x="6084242" y="3719803"/>
            <a:ext cx="3917074" cy="462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1"/>
              </a:lnSpc>
            </a:pPr>
            <a:r>
              <a:rPr lang="en-US" sz="2874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Blynk Mobile App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084242" y="4273004"/>
            <a:ext cx="4114651" cy="1687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8"/>
              </a:lnSpc>
            </a:pPr>
            <a:r>
              <a:rPr lang="en-US" sz="213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Cross-platform application for iOS and Android enabling real-time data visualization and remote device control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84945" y="6812012"/>
            <a:ext cx="9460111" cy="2797820"/>
            <a:chOff x="0" y="0"/>
            <a:chExt cx="12613482" cy="373042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613513" cy="3730498"/>
            </a:xfrm>
            <a:custGeom>
              <a:avLst/>
              <a:gdLst/>
              <a:ahLst/>
              <a:cxnLst/>
              <a:rect l="l" t="t" r="r" b="b"/>
              <a:pathLst>
                <a:path w="12613513" h="3730498">
                  <a:moveTo>
                    <a:pt x="0" y="49276"/>
                  </a:moveTo>
                  <a:cubicBezTo>
                    <a:pt x="0" y="22098"/>
                    <a:pt x="22098" y="0"/>
                    <a:pt x="49276" y="0"/>
                  </a:cubicBezTo>
                  <a:lnTo>
                    <a:pt x="12564237" y="0"/>
                  </a:lnTo>
                  <a:cubicBezTo>
                    <a:pt x="12591415" y="0"/>
                    <a:pt x="12613513" y="22098"/>
                    <a:pt x="12613513" y="49276"/>
                  </a:cubicBezTo>
                  <a:lnTo>
                    <a:pt x="12613513" y="3681222"/>
                  </a:lnTo>
                  <a:cubicBezTo>
                    <a:pt x="12613513" y="3708400"/>
                    <a:pt x="12591415" y="3730498"/>
                    <a:pt x="12564237" y="3730498"/>
                  </a:cubicBezTo>
                  <a:lnTo>
                    <a:pt x="49276" y="3730498"/>
                  </a:lnTo>
                  <a:cubicBezTo>
                    <a:pt x="22098" y="3730371"/>
                    <a:pt x="0" y="3708400"/>
                    <a:pt x="0" y="3681222"/>
                  </a:cubicBezTo>
                  <a:close/>
                </a:path>
              </a:pathLst>
            </a:custGeom>
            <a:solidFill>
              <a:srgbClr val="26262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31106" y="7058174"/>
            <a:ext cx="738782" cy="738783"/>
            <a:chOff x="0" y="0"/>
            <a:chExt cx="985043" cy="985043"/>
          </a:xfrm>
        </p:grpSpPr>
        <p:sp>
          <p:nvSpPr>
            <p:cNvPr id="26" name="Freeform 26" descr="preencoded.png"/>
            <p:cNvSpPr/>
            <p:nvPr/>
          </p:nvSpPr>
          <p:spPr>
            <a:xfrm>
              <a:off x="0" y="0"/>
              <a:ext cx="985012" cy="985012"/>
            </a:xfrm>
            <a:custGeom>
              <a:avLst/>
              <a:gdLst/>
              <a:ahLst/>
              <a:cxnLst/>
              <a:rect l="l" t="t" r="r" b="b"/>
              <a:pathLst>
                <a:path w="985012" h="985012">
                  <a:moveTo>
                    <a:pt x="0" y="0"/>
                  </a:moveTo>
                  <a:lnTo>
                    <a:pt x="985012" y="0"/>
                  </a:lnTo>
                  <a:lnTo>
                    <a:pt x="985012" y="985012"/>
                  </a:lnTo>
                  <a:lnTo>
                    <a:pt x="0" y="985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-3" b="-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7" name="Freeform 27" descr="preencoded.png"/>
          <p:cNvSpPr/>
          <p:nvPr/>
        </p:nvSpPr>
        <p:spPr>
          <a:xfrm>
            <a:off x="1434256" y="7261324"/>
            <a:ext cx="332334" cy="332334"/>
          </a:xfrm>
          <a:custGeom>
            <a:avLst/>
            <a:gdLst/>
            <a:ahLst/>
            <a:cxnLst/>
            <a:rect l="l" t="t" r="r" b="b"/>
            <a:pathLst>
              <a:path w="332334" h="332334">
                <a:moveTo>
                  <a:pt x="0" y="0"/>
                </a:moveTo>
                <a:lnTo>
                  <a:pt x="332334" y="0"/>
                </a:lnTo>
                <a:lnTo>
                  <a:pt x="332334" y="332334"/>
                </a:lnTo>
                <a:lnTo>
                  <a:pt x="0" y="33233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t="-2857" b="-2857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8" name="TextBox 28"/>
          <p:cNvSpPr txBox="1"/>
          <p:nvPr/>
        </p:nvSpPr>
        <p:spPr>
          <a:xfrm>
            <a:off x="1231106" y="7953656"/>
            <a:ext cx="3519718" cy="453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5"/>
              </a:lnSpc>
            </a:pPr>
            <a:r>
              <a:rPr lang="en-US" sz="2774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Required Libraries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31106" y="8489751"/>
            <a:ext cx="8967787" cy="872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6"/>
              </a:lnSpc>
            </a:pPr>
            <a:r>
              <a:rPr lang="en-US" sz="223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ESP8266WiFi.h (Wi-Fi connectivity), BlynkSimpleEsp8266.h (cloud integration), DHT.h (sensor communication)</a:t>
            </a:r>
          </a:p>
        </p:txBody>
      </p:sp>
    </p:spTree>
  </p:cSld>
  <p:clrMapOvr>
    <a:masterClrMapping/>
  </p:clrMapOvr>
  <p:transition spd="med" advTm="30000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070C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63216" y="628948"/>
            <a:ext cx="8075414" cy="854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23"/>
              </a:lnSpc>
            </a:pPr>
            <a:r>
              <a:rPr lang="en-US" sz="5312">
                <a:solidFill>
                  <a:srgbClr val="97B8FF"/>
                </a:solidFill>
                <a:latin typeface="Arimo"/>
                <a:ea typeface="Arimo"/>
                <a:cs typeface="Arimo"/>
                <a:sym typeface="Arimo"/>
              </a:rPr>
              <a:t>Firmware Implementation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72741" y="1706403"/>
            <a:ext cx="16323469" cy="463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2"/>
              </a:lnSpc>
            </a:pPr>
            <a:r>
              <a:rPr lang="en-US" sz="2474" b="1">
                <a:solidFill>
                  <a:srgbClr val="E0D6D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Key Programming Steps: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82266" y="2604195"/>
            <a:ext cx="552450" cy="552450"/>
            <a:chOff x="0" y="0"/>
            <a:chExt cx="736600" cy="736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36600" cy="736600"/>
            </a:xfrm>
            <a:custGeom>
              <a:avLst/>
              <a:gdLst/>
              <a:ahLst/>
              <a:cxnLst/>
              <a:rect l="l" t="t" r="r" b="b"/>
              <a:pathLst>
                <a:path w="736600" h="736600">
                  <a:moveTo>
                    <a:pt x="0" y="49149"/>
                  </a:moveTo>
                  <a:cubicBezTo>
                    <a:pt x="0" y="21971"/>
                    <a:pt x="21971" y="0"/>
                    <a:pt x="49149" y="0"/>
                  </a:cubicBezTo>
                  <a:lnTo>
                    <a:pt x="687451" y="0"/>
                  </a:lnTo>
                  <a:cubicBezTo>
                    <a:pt x="714629" y="0"/>
                    <a:pt x="736600" y="21971"/>
                    <a:pt x="736600" y="49149"/>
                  </a:cubicBezTo>
                  <a:lnTo>
                    <a:pt x="736600" y="687451"/>
                  </a:lnTo>
                  <a:cubicBezTo>
                    <a:pt x="736600" y="714629"/>
                    <a:pt x="714629" y="736600"/>
                    <a:pt x="687451" y="736600"/>
                  </a:cubicBezTo>
                  <a:lnTo>
                    <a:pt x="49149" y="736600"/>
                  </a:lnTo>
                  <a:cubicBezTo>
                    <a:pt x="21971" y="736600"/>
                    <a:pt x="0" y="714629"/>
                    <a:pt x="0" y="687451"/>
                  </a:cubicBezTo>
                  <a:close/>
                </a:path>
              </a:pathLst>
            </a:custGeom>
            <a:solidFill>
              <a:srgbClr val="26262B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74316" y="2697807"/>
            <a:ext cx="368350" cy="412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874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70758" y="2660005"/>
            <a:ext cx="5683685" cy="462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1"/>
              </a:lnSpc>
            </a:pPr>
            <a:r>
              <a:rPr lang="en-US" sz="2874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Initialize Wi-Fi Connection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80282" y="3124349"/>
            <a:ext cx="15525452" cy="43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5"/>
              </a:lnSpc>
            </a:pPr>
            <a:r>
              <a:rPr lang="en-US" sz="2274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Configure SSID, password, and establish connection to local network using WiFi.begin()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82266" y="4103638"/>
            <a:ext cx="552450" cy="552450"/>
            <a:chOff x="0" y="0"/>
            <a:chExt cx="736600" cy="736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36600" cy="736600"/>
            </a:xfrm>
            <a:custGeom>
              <a:avLst/>
              <a:gdLst/>
              <a:ahLst/>
              <a:cxnLst/>
              <a:rect l="l" t="t" r="r" b="b"/>
              <a:pathLst>
                <a:path w="736600" h="736600">
                  <a:moveTo>
                    <a:pt x="0" y="49149"/>
                  </a:moveTo>
                  <a:cubicBezTo>
                    <a:pt x="0" y="21971"/>
                    <a:pt x="21971" y="0"/>
                    <a:pt x="49149" y="0"/>
                  </a:cubicBezTo>
                  <a:lnTo>
                    <a:pt x="687451" y="0"/>
                  </a:lnTo>
                  <a:cubicBezTo>
                    <a:pt x="714629" y="0"/>
                    <a:pt x="736600" y="21971"/>
                    <a:pt x="736600" y="49149"/>
                  </a:cubicBezTo>
                  <a:lnTo>
                    <a:pt x="736600" y="687451"/>
                  </a:lnTo>
                  <a:cubicBezTo>
                    <a:pt x="736600" y="714629"/>
                    <a:pt x="714629" y="736600"/>
                    <a:pt x="687451" y="736600"/>
                  </a:cubicBezTo>
                  <a:lnTo>
                    <a:pt x="49149" y="736600"/>
                  </a:lnTo>
                  <a:cubicBezTo>
                    <a:pt x="21971" y="736600"/>
                    <a:pt x="0" y="714629"/>
                    <a:pt x="0" y="687451"/>
                  </a:cubicBezTo>
                  <a:close/>
                </a:path>
              </a:pathLst>
            </a:custGeom>
            <a:solidFill>
              <a:srgbClr val="26262B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74316" y="4197251"/>
            <a:ext cx="368350" cy="412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874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80282" y="4149924"/>
            <a:ext cx="5674160" cy="490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7"/>
              </a:lnSpc>
            </a:pPr>
            <a:r>
              <a:rPr lang="en-US" sz="2974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Authenticate with Blynk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80282" y="4623792"/>
            <a:ext cx="15525452" cy="43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5"/>
              </a:lnSpc>
            </a:pPr>
            <a:r>
              <a:rPr lang="en-US" sz="2274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Set authentication token and initiate connection to Blynk server through Blynk.connect()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82266" y="5603081"/>
            <a:ext cx="552450" cy="552450"/>
            <a:chOff x="0" y="0"/>
            <a:chExt cx="736600" cy="7366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36600" cy="736600"/>
            </a:xfrm>
            <a:custGeom>
              <a:avLst/>
              <a:gdLst/>
              <a:ahLst/>
              <a:cxnLst/>
              <a:rect l="l" t="t" r="r" b="b"/>
              <a:pathLst>
                <a:path w="736600" h="736600">
                  <a:moveTo>
                    <a:pt x="0" y="49149"/>
                  </a:moveTo>
                  <a:cubicBezTo>
                    <a:pt x="0" y="21971"/>
                    <a:pt x="21971" y="0"/>
                    <a:pt x="49149" y="0"/>
                  </a:cubicBezTo>
                  <a:lnTo>
                    <a:pt x="687451" y="0"/>
                  </a:lnTo>
                  <a:cubicBezTo>
                    <a:pt x="714629" y="0"/>
                    <a:pt x="736600" y="21971"/>
                    <a:pt x="736600" y="49149"/>
                  </a:cubicBezTo>
                  <a:lnTo>
                    <a:pt x="736600" y="687451"/>
                  </a:lnTo>
                  <a:cubicBezTo>
                    <a:pt x="736600" y="714629"/>
                    <a:pt x="714629" y="736600"/>
                    <a:pt x="687451" y="736600"/>
                  </a:cubicBezTo>
                  <a:lnTo>
                    <a:pt x="49149" y="736600"/>
                  </a:lnTo>
                  <a:cubicBezTo>
                    <a:pt x="21971" y="736600"/>
                    <a:pt x="0" y="714629"/>
                    <a:pt x="0" y="687451"/>
                  </a:cubicBezTo>
                  <a:close/>
                </a:path>
              </a:pathLst>
            </a:custGeom>
            <a:solidFill>
              <a:srgbClr val="26262B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074316" y="5696694"/>
            <a:ext cx="368350" cy="412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874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80282" y="5649366"/>
            <a:ext cx="6910978" cy="453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5"/>
              </a:lnSpc>
            </a:pPr>
            <a:r>
              <a:rPr lang="en-US" sz="2774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Read Sensor Data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80282" y="6132760"/>
            <a:ext cx="15525452" cy="413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52"/>
              </a:lnSpc>
            </a:pPr>
            <a:r>
              <a:rPr lang="en-US" sz="2174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Continuously sample DHT11 digital output and convert analog signals from rain/LDR sensors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82266" y="7102525"/>
            <a:ext cx="552450" cy="552450"/>
            <a:chOff x="0" y="0"/>
            <a:chExt cx="736600" cy="7366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36600" cy="736600"/>
            </a:xfrm>
            <a:custGeom>
              <a:avLst/>
              <a:gdLst/>
              <a:ahLst/>
              <a:cxnLst/>
              <a:rect l="l" t="t" r="r" b="b"/>
              <a:pathLst>
                <a:path w="736600" h="736600">
                  <a:moveTo>
                    <a:pt x="0" y="49149"/>
                  </a:moveTo>
                  <a:cubicBezTo>
                    <a:pt x="0" y="21971"/>
                    <a:pt x="21971" y="0"/>
                    <a:pt x="49149" y="0"/>
                  </a:cubicBezTo>
                  <a:lnTo>
                    <a:pt x="687451" y="0"/>
                  </a:lnTo>
                  <a:cubicBezTo>
                    <a:pt x="714629" y="0"/>
                    <a:pt x="736600" y="21971"/>
                    <a:pt x="736600" y="49149"/>
                  </a:cubicBezTo>
                  <a:lnTo>
                    <a:pt x="736600" y="687451"/>
                  </a:lnTo>
                  <a:cubicBezTo>
                    <a:pt x="736600" y="714629"/>
                    <a:pt x="714629" y="736600"/>
                    <a:pt x="687451" y="736600"/>
                  </a:cubicBezTo>
                  <a:lnTo>
                    <a:pt x="49149" y="736600"/>
                  </a:lnTo>
                  <a:cubicBezTo>
                    <a:pt x="21971" y="736600"/>
                    <a:pt x="0" y="714629"/>
                    <a:pt x="0" y="687451"/>
                  </a:cubicBezTo>
                  <a:close/>
                </a:path>
              </a:pathLst>
            </a:custGeom>
            <a:solidFill>
              <a:srgbClr val="26262B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074316" y="7196137"/>
            <a:ext cx="368350" cy="412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874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4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780283" y="7148810"/>
            <a:ext cx="8338499" cy="453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5"/>
              </a:lnSpc>
            </a:pPr>
            <a:r>
              <a:rPr lang="en-US" sz="2774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Process &amp; Format Data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780282" y="7622679"/>
            <a:ext cx="15525452" cy="450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9"/>
              </a:lnSpc>
            </a:pPr>
            <a:r>
              <a:rPr lang="en-US" sz="2374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Apply sensor calibration coefficients and format values for transmission to virtual pins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82266" y="8601967"/>
            <a:ext cx="552450" cy="552450"/>
            <a:chOff x="0" y="0"/>
            <a:chExt cx="736600" cy="7366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36600" cy="736600"/>
            </a:xfrm>
            <a:custGeom>
              <a:avLst/>
              <a:gdLst/>
              <a:ahLst/>
              <a:cxnLst/>
              <a:rect l="l" t="t" r="r" b="b"/>
              <a:pathLst>
                <a:path w="736600" h="736600">
                  <a:moveTo>
                    <a:pt x="0" y="49149"/>
                  </a:moveTo>
                  <a:cubicBezTo>
                    <a:pt x="0" y="21971"/>
                    <a:pt x="21971" y="0"/>
                    <a:pt x="49149" y="0"/>
                  </a:cubicBezTo>
                  <a:lnTo>
                    <a:pt x="687451" y="0"/>
                  </a:lnTo>
                  <a:cubicBezTo>
                    <a:pt x="714629" y="0"/>
                    <a:pt x="736600" y="21971"/>
                    <a:pt x="736600" y="49149"/>
                  </a:cubicBezTo>
                  <a:lnTo>
                    <a:pt x="736600" y="687451"/>
                  </a:lnTo>
                  <a:cubicBezTo>
                    <a:pt x="736600" y="714629"/>
                    <a:pt x="714629" y="736600"/>
                    <a:pt x="687451" y="736600"/>
                  </a:cubicBezTo>
                  <a:lnTo>
                    <a:pt x="49149" y="736600"/>
                  </a:lnTo>
                  <a:cubicBezTo>
                    <a:pt x="21971" y="736600"/>
                    <a:pt x="0" y="714629"/>
                    <a:pt x="0" y="687451"/>
                  </a:cubicBezTo>
                  <a:close/>
                </a:path>
              </a:pathLst>
            </a:custGeom>
            <a:solidFill>
              <a:srgbClr val="26262B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074316" y="8695581"/>
            <a:ext cx="368350" cy="412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874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5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780283" y="8648254"/>
            <a:ext cx="10825999" cy="453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5"/>
              </a:lnSpc>
            </a:pPr>
            <a:r>
              <a:rPr lang="en-US" sz="2774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Periodic Cloud Sync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780282" y="9122123"/>
            <a:ext cx="15525452" cy="43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5"/>
              </a:lnSpc>
            </a:pPr>
            <a:r>
              <a:rPr lang="en-US" sz="2274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Send aggregated sensor data to Blynk virtual pins at configurable intervals (typically 10-30 seconds)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0">
        <p:split orient="vert"/>
      </p:transition>
    </mc:Choice>
    <mc:Fallback>
      <p:transition spd="slow" advTm="30000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-238125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070C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92238" y="1345853"/>
            <a:ext cx="9445526" cy="1588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>
                <a:solidFill>
                  <a:srgbClr val="97B8FF"/>
                </a:solidFill>
                <a:latin typeface="Arimo"/>
                <a:ea typeface="Arimo"/>
                <a:cs typeface="Arimo"/>
                <a:sym typeface="Arimo"/>
              </a:rPr>
              <a:t>System Output &amp; Real-World Applications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7" y="3525590"/>
            <a:ext cx="4094410" cy="427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2637">
                <a:solidFill>
                  <a:srgbClr val="97B8FF"/>
                </a:solidFill>
                <a:latin typeface="Arimo"/>
                <a:ea typeface="Arimo"/>
                <a:cs typeface="Arimo"/>
                <a:sym typeface="Arimo"/>
              </a:rPr>
              <a:t>Blynk Dashboard Features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4104085"/>
            <a:ext cx="4420195" cy="1259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2362" lvl="1" indent="-161181" algn="l">
              <a:lnSpc>
                <a:spcPts val="3447"/>
              </a:lnSpc>
              <a:buFont typeface="Arial"/>
              <a:buChar char="•"/>
            </a:pPr>
            <a:r>
              <a:rPr lang="en-US" sz="2137" b="1">
                <a:solidFill>
                  <a:srgbClr val="E0D6D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Gauge Widgets:</a:t>
            </a:r>
            <a:r>
              <a:rPr lang="en-US" sz="213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 Analog displays for temperature and humidity ranges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5400675"/>
            <a:ext cx="4420195" cy="830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2362" lvl="1" indent="-161181" algn="l">
              <a:lnSpc>
                <a:spcPts val="3447"/>
              </a:lnSpc>
              <a:buFont typeface="Arial"/>
              <a:buChar char="•"/>
            </a:pPr>
            <a:r>
              <a:rPr lang="en-US" sz="2137" b="1">
                <a:solidFill>
                  <a:srgbClr val="E0D6D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Graph Visualization:</a:t>
            </a:r>
            <a:r>
              <a:rPr lang="en-US" sz="213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 Historical data trends over hours or days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38" y="6659166"/>
            <a:ext cx="4420195" cy="798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7281" lvl="1" indent="-153640" algn="l">
              <a:lnSpc>
                <a:spcPts val="3286"/>
              </a:lnSpc>
              <a:buFont typeface="Arial"/>
              <a:buChar char="•"/>
            </a:pPr>
            <a:r>
              <a:rPr lang="en-US" sz="2037" b="1">
                <a:solidFill>
                  <a:srgbClr val="E0D6D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LED Indicators:</a:t>
            </a:r>
            <a:r>
              <a:rPr lang="en-US" sz="203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 Visual alerts for threshold violations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238" y="7565097"/>
            <a:ext cx="4420195" cy="798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7281" lvl="1" indent="-153640" algn="l">
              <a:lnSpc>
                <a:spcPts val="3286"/>
              </a:lnSpc>
              <a:buFont typeface="Arial"/>
              <a:buChar char="•"/>
            </a:pPr>
            <a:r>
              <a:rPr lang="en-US" sz="2037" b="1">
                <a:solidFill>
                  <a:srgbClr val="E0D6D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Numeric Displays:</a:t>
            </a:r>
            <a:r>
              <a:rPr lang="en-US" sz="203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 Real-time values with units and precision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027092" y="3525590"/>
            <a:ext cx="3494485" cy="427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2637">
                <a:solidFill>
                  <a:srgbClr val="97B8FF"/>
                </a:solidFill>
                <a:latin typeface="Arimo"/>
                <a:ea typeface="Arimo"/>
                <a:cs typeface="Arimo"/>
                <a:sym typeface="Arimo"/>
              </a:rPr>
              <a:t>Practical Applications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027092" y="4104085"/>
            <a:ext cx="4420195" cy="120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7281" lvl="1" indent="-153640" algn="l">
              <a:lnSpc>
                <a:spcPts val="3286"/>
              </a:lnSpc>
              <a:buFont typeface="Arial"/>
              <a:buChar char="•"/>
            </a:pPr>
            <a:r>
              <a:rPr lang="en-US" sz="2037" b="1">
                <a:solidFill>
                  <a:srgbClr val="E0D6D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Smart Agriculture:</a:t>
            </a:r>
            <a:r>
              <a:rPr lang="en-US" sz="203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 Automated irrigation scheduling based on rainfall and humidity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027092" y="5381625"/>
            <a:ext cx="4596797" cy="120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7281" lvl="1" indent="-153640" algn="l">
              <a:lnSpc>
                <a:spcPts val="3286"/>
              </a:lnSpc>
              <a:buFont typeface="Arial"/>
              <a:buChar char="•"/>
            </a:pPr>
            <a:r>
              <a:rPr lang="en-US" sz="2037" b="1">
                <a:solidFill>
                  <a:srgbClr val="E0D6D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Environmental Monitoring:</a:t>
            </a:r>
            <a:r>
              <a:rPr lang="en-US" sz="203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 Pollution tracking and ecological impact assessment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027092" y="6659166"/>
            <a:ext cx="4596797" cy="798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7281" lvl="1" indent="-153640" algn="l">
              <a:lnSpc>
                <a:spcPts val="3286"/>
              </a:lnSpc>
              <a:buFont typeface="Arial"/>
              <a:buChar char="•"/>
            </a:pPr>
            <a:r>
              <a:rPr lang="en-US" sz="2037" b="1">
                <a:solidFill>
                  <a:srgbClr val="E0D6D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Smart Homes:</a:t>
            </a:r>
            <a:r>
              <a:rPr lang="en-US" sz="203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 Climate control and energy optimization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027092" y="7539781"/>
            <a:ext cx="4596797" cy="120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7281" lvl="1" indent="-153640" algn="l">
              <a:lnSpc>
                <a:spcPts val="3286"/>
              </a:lnSpc>
              <a:buFont typeface="Arial"/>
              <a:buChar char="•"/>
            </a:pPr>
            <a:r>
              <a:rPr lang="en-US" sz="2037" b="1">
                <a:solidFill>
                  <a:srgbClr val="E0D6D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Educational Stations:</a:t>
            </a:r>
            <a:r>
              <a:rPr lang="en-US" sz="203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 Weather monitoring infrastructure for schools</a:t>
            </a:r>
          </a:p>
        </p:txBody>
      </p:sp>
    </p:spTree>
  </p:cSld>
  <p:clrMapOvr>
    <a:masterClrMapping/>
  </p:clrMapOvr>
  <p:transition spd="slow" advTm="30000">
    <p:randomBar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070C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1361034"/>
            <a:ext cx="6202264" cy="813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>
                <a:solidFill>
                  <a:srgbClr val="97B8FF"/>
                </a:solidFill>
                <a:latin typeface="Arimo"/>
                <a:ea typeface="Arimo"/>
                <a:cs typeface="Arimo"/>
                <a:sym typeface="Arimo"/>
              </a:rPr>
              <a:t>THANK YOU.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7" y="2365388"/>
            <a:ext cx="16303526" cy="948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1"/>
              </a:lnSpc>
            </a:pPr>
            <a:r>
              <a:rPr lang="en-US" sz="243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We appreciate your attention to our presentation on the IoT Weather Monitoring Project. Here's a brief summary of the key components and their impact: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92238" y="3743176"/>
            <a:ext cx="3843338" cy="2375298"/>
            <a:chOff x="0" y="0"/>
            <a:chExt cx="5124450" cy="3167063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5124450" cy="3167126"/>
            </a:xfrm>
            <a:custGeom>
              <a:avLst/>
              <a:gdLst/>
              <a:ahLst/>
              <a:cxnLst/>
              <a:rect l="l" t="t" r="r" b="b"/>
              <a:pathLst>
                <a:path w="5124450" h="3167126">
                  <a:moveTo>
                    <a:pt x="0" y="0"/>
                  </a:moveTo>
                  <a:lnTo>
                    <a:pt x="5124450" y="0"/>
                  </a:lnTo>
                  <a:lnTo>
                    <a:pt x="5124450" y="3167126"/>
                  </a:lnTo>
                  <a:lnTo>
                    <a:pt x="0" y="3167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7" r="-137"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92238" y="6356896"/>
            <a:ext cx="3843338" cy="784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IoT Core: NodeMCU ESP8266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7204919"/>
            <a:ext cx="3843338" cy="1673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The foundation of our system, leveraging the powerful ESP8266 for efficient data processing and connectivity.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145584" y="3743176"/>
            <a:ext cx="3843338" cy="2375298"/>
            <a:chOff x="0" y="0"/>
            <a:chExt cx="5124450" cy="3167063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5124450" cy="3167126"/>
            </a:xfrm>
            <a:custGeom>
              <a:avLst/>
              <a:gdLst/>
              <a:ahLst/>
              <a:cxnLst/>
              <a:rect l="l" t="t" r="r" b="b"/>
              <a:pathLst>
                <a:path w="5124450" h="3167126">
                  <a:moveTo>
                    <a:pt x="0" y="0"/>
                  </a:moveTo>
                  <a:lnTo>
                    <a:pt x="5124450" y="0"/>
                  </a:lnTo>
                  <a:lnTo>
                    <a:pt x="5124450" y="3167126"/>
                  </a:lnTo>
                  <a:lnTo>
                    <a:pt x="0" y="3167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7" r="-137"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145584" y="6356896"/>
            <a:ext cx="3101131" cy="397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Sensor Integration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145584" y="6817221"/>
            <a:ext cx="3843338" cy="2070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Seamlessly integrated environmental sensors for accurate real-time data acquisition of temperature, humidity, and more.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298930" y="3743176"/>
            <a:ext cx="3843337" cy="2375298"/>
            <a:chOff x="0" y="0"/>
            <a:chExt cx="5124450" cy="3167063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5124450" cy="3167126"/>
            </a:xfrm>
            <a:custGeom>
              <a:avLst/>
              <a:gdLst/>
              <a:ahLst/>
              <a:cxnLst/>
              <a:rect l="l" t="t" r="r" b="b"/>
              <a:pathLst>
                <a:path w="5124450" h="3167126">
                  <a:moveTo>
                    <a:pt x="0" y="0"/>
                  </a:moveTo>
                  <a:lnTo>
                    <a:pt x="5124450" y="0"/>
                  </a:lnTo>
                  <a:lnTo>
                    <a:pt x="5124450" y="3167126"/>
                  </a:lnTo>
                  <a:lnTo>
                    <a:pt x="0" y="3167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37" r="-137"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9298930" y="6356896"/>
            <a:ext cx="3843337" cy="784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Cloud Connectivity via Blynk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298930" y="7204919"/>
            <a:ext cx="3843337" cy="1673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Utilizing Blynk for robust cloud integration, enabling remote monitoring and intuitive dashboard visualization of data.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3452276" y="3743176"/>
            <a:ext cx="3843486" cy="2375446"/>
            <a:chOff x="0" y="0"/>
            <a:chExt cx="5124648" cy="3167262"/>
          </a:xfrm>
        </p:grpSpPr>
        <p:sp>
          <p:nvSpPr>
            <p:cNvPr id="21" name="Freeform 21" descr="preencoded.png"/>
            <p:cNvSpPr/>
            <p:nvPr/>
          </p:nvSpPr>
          <p:spPr>
            <a:xfrm>
              <a:off x="0" y="0"/>
              <a:ext cx="5124704" cy="3167253"/>
            </a:xfrm>
            <a:custGeom>
              <a:avLst/>
              <a:gdLst/>
              <a:ahLst/>
              <a:cxnLst/>
              <a:rect l="l" t="t" r="r" b="b"/>
              <a:pathLst>
                <a:path w="5124704" h="3167253">
                  <a:moveTo>
                    <a:pt x="0" y="0"/>
                  </a:moveTo>
                  <a:lnTo>
                    <a:pt x="5124704" y="0"/>
                  </a:lnTo>
                  <a:lnTo>
                    <a:pt x="5124704" y="3167253"/>
                  </a:lnTo>
                  <a:lnTo>
                    <a:pt x="0" y="31672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38" r="-13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3452276" y="6357045"/>
            <a:ext cx="3101131" cy="397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Real-World Impact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452276" y="6817370"/>
            <a:ext cx="3843486" cy="2070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From smart agriculture to environmental monitoring, our system provides actionable insights for diverse practical applications.</a:t>
            </a:r>
          </a:p>
        </p:txBody>
      </p:sp>
    </p:spTree>
  </p:cSld>
  <p:clrMapOvr>
    <a:masterClrMapping/>
  </p:clrMapOvr>
  <p:transition spd="slow" advTm="30000">
    <p:randomBar dir="ver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940</Words>
  <Application>Microsoft Office PowerPoint</Application>
  <PresentationFormat>Custom</PresentationFormat>
  <Paragraphs>123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Noto Sans</vt:lpstr>
      <vt:lpstr>Arimo</vt:lpstr>
      <vt:lpstr>Noto Sans Bold</vt:lpstr>
      <vt:lpstr>Arial</vt:lpstr>
      <vt:lpstr>Canva Student Font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Weather Monitoring System</dc:title>
  <cp:lastModifiedBy>Sri Sai Mani Venkata Reddy Nallamilli</cp:lastModifiedBy>
  <cp:revision>1</cp:revision>
  <dcterms:created xsi:type="dcterms:W3CDTF">2006-08-16T00:00:00Z</dcterms:created>
  <dcterms:modified xsi:type="dcterms:W3CDTF">2025-11-02T17:19:14Z</dcterms:modified>
  <dc:identifier>DAG3D9tqNvE</dc:identifier>
</cp:coreProperties>
</file>